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89" r:id="rId2"/>
    <p:sldId id="288" r:id="rId3"/>
    <p:sldId id="282" r:id="rId4"/>
    <p:sldId id="268" r:id="rId5"/>
    <p:sldId id="290" r:id="rId6"/>
    <p:sldId id="292" r:id="rId7"/>
    <p:sldId id="295" r:id="rId8"/>
    <p:sldId id="296" r:id="rId9"/>
    <p:sldId id="297" r:id="rId10"/>
    <p:sldId id="299" r:id="rId11"/>
    <p:sldId id="264" r:id="rId12"/>
    <p:sldId id="300" r:id="rId13"/>
    <p:sldId id="266" r:id="rId14"/>
    <p:sldId id="267" r:id="rId15"/>
  </p:sldIdLst>
  <p:sldSz cx="12192000" cy="6858000"/>
  <p:notesSz cx="6858000" cy="9144000"/>
  <p:embeddedFontLst>
    <p:embeddedFont>
      <p:font typeface="Montserrat" pitchFamily="2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28F7"/>
    <a:srgbClr val="EDE4FF"/>
    <a:srgbClr val="DDCDF6"/>
    <a:srgbClr val="9555CA"/>
    <a:srgbClr val="DDACF5"/>
    <a:srgbClr val="FFFFFF"/>
    <a:srgbClr val="F2F2F2"/>
    <a:srgbClr val="7E60BF"/>
    <a:srgbClr val="61369E"/>
    <a:srgbClr val="240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87123"/>
  </p:normalViewPr>
  <p:slideViewPr>
    <p:cSldViewPr snapToGrid="0">
      <p:cViewPr>
        <p:scale>
          <a:sx n="75" d="100"/>
          <a:sy n="75" d="100"/>
        </p:scale>
        <p:origin x="824" y="928"/>
      </p:cViewPr>
      <p:guideLst/>
    </p:cSldViewPr>
  </p:slideViewPr>
  <p:notesTextViewPr>
    <p:cViewPr>
      <p:scale>
        <a:sx n="1" d="1"/>
        <a:sy n="1" d="1"/>
      </p:scale>
      <p:origin x="0" y="-17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73B1779-7D43-033A-E5C8-C768D2299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001642C-08F7-3688-CCF7-FA53FEE7F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60C694C-2148-6BAE-1C98-9C1D797D5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96969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53E4330D-A6AA-ED31-5B94-7BDFF767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CB7FEA19-795B-86AB-D0BA-D0B49FF376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F8111566-E22E-6637-EEBC-6C845B982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5517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88B1636A-2160-AFBA-2CF4-AD5175FE5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98A11391-2901-A760-F06F-BCC31C5BB7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Le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consiste</a:t>
            </a:r>
            <a:r>
              <a:rPr lang="en-US" dirty="0"/>
              <a:t> à </a:t>
            </a:r>
            <a:r>
              <a:rPr lang="en-US" dirty="0" err="1"/>
              <a:t>concevoir</a:t>
            </a:r>
            <a:r>
              <a:rPr lang="en-US" dirty="0"/>
              <a:t> et </a:t>
            </a:r>
            <a:r>
              <a:rPr lang="en-US" dirty="0" err="1"/>
              <a:t>publier</a:t>
            </a:r>
            <a:r>
              <a:rPr lang="en-US" dirty="0"/>
              <a:t> un portfolio </a:t>
            </a:r>
            <a:r>
              <a:rPr lang="en-US" dirty="0" err="1"/>
              <a:t>professionnel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ligne</a:t>
            </a:r>
            <a:r>
              <a:rPr lang="en-US" dirty="0"/>
              <a:t> pour Mohammed </a:t>
            </a:r>
            <a:r>
              <a:rPr lang="en-US" dirty="0" err="1"/>
              <a:t>Abbakar</a:t>
            </a:r>
            <a:r>
              <a:rPr lang="en-US" dirty="0"/>
              <a:t>, </a:t>
            </a:r>
            <a:r>
              <a:rPr lang="en-US" dirty="0" err="1"/>
              <a:t>futur</a:t>
            </a:r>
            <a:r>
              <a:rPr lang="en-US" dirty="0"/>
              <a:t> Consultant Data Analyst / Chef de </a:t>
            </a:r>
            <a:r>
              <a:rPr lang="en-US" dirty="0" err="1"/>
              <a:t>projet</a:t>
            </a:r>
            <a:r>
              <a:rPr lang="en-US" dirty="0"/>
              <a:t> data.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Ce portfolio sera </a:t>
            </a:r>
            <a:r>
              <a:rPr lang="en-US" dirty="0" err="1"/>
              <a:t>hébergé</a:t>
            </a:r>
            <a:r>
              <a:rPr lang="en-US" dirty="0"/>
              <a:t> sur GitHub Pages et aura pour </a:t>
            </a:r>
            <a:r>
              <a:rPr lang="en-US" dirty="0" err="1"/>
              <a:t>objectif</a:t>
            </a:r>
            <a:r>
              <a:rPr lang="en-US" dirty="0"/>
              <a:t> de </a:t>
            </a:r>
            <a:r>
              <a:rPr lang="en-US" dirty="0" err="1"/>
              <a:t>présenter</a:t>
            </a:r>
            <a:r>
              <a:rPr lang="en-US" dirty="0"/>
              <a:t> le </a:t>
            </a:r>
            <a:r>
              <a:rPr lang="en-US" dirty="0" err="1"/>
              <a:t>profil</a:t>
            </a:r>
            <a:r>
              <a:rPr lang="en-US" dirty="0"/>
              <a:t> du </a:t>
            </a:r>
            <a:r>
              <a:rPr lang="en-US" dirty="0" err="1"/>
              <a:t>candidat</a:t>
            </a:r>
            <a:r>
              <a:rPr lang="en-US" dirty="0"/>
              <a:t>,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compétences</a:t>
            </a:r>
            <a:r>
              <a:rPr lang="en-US" dirty="0"/>
              <a:t> techniques, </a:t>
            </a:r>
            <a:r>
              <a:rPr lang="en-US" dirty="0" err="1"/>
              <a:t>ses</a:t>
            </a:r>
            <a:r>
              <a:rPr lang="en-US" dirty="0"/>
              <a:t> soft skills,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projets</a:t>
            </a:r>
            <a:r>
              <a:rPr lang="en-US" dirty="0"/>
              <a:t> de formation </a:t>
            </a:r>
            <a:r>
              <a:rPr lang="en-US" dirty="0" err="1"/>
              <a:t>ainsi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les </a:t>
            </a:r>
            <a:r>
              <a:rPr lang="en-US" dirty="0" err="1"/>
              <a:t>livrables</a:t>
            </a:r>
            <a:r>
              <a:rPr lang="en-US" dirty="0"/>
              <a:t> </a:t>
            </a:r>
            <a:r>
              <a:rPr lang="en-US" dirty="0" err="1"/>
              <a:t>réalisés</a:t>
            </a:r>
            <a:r>
              <a:rPr lang="en-US" dirty="0"/>
              <a:t> dans le cadre de la mission </a:t>
            </a:r>
            <a:r>
              <a:rPr lang="en-US" dirty="0" err="1"/>
              <a:t>Aéroworld</a:t>
            </a:r>
            <a:r>
              <a:rPr lang="en-US" dirty="0"/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Le portfolio </a:t>
            </a:r>
            <a:r>
              <a:rPr lang="en-US" dirty="0" err="1"/>
              <a:t>devra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clair</a:t>
            </a:r>
            <a:r>
              <a:rPr lang="en-US" dirty="0"/>
              <a:t>, </a:t>
            </a:r>
            <a:r>
              <a:rPr lang="en-US" dirty="0" err="1"/>
              <a:t>visuel</a:t>
            </a:r>
            <a:r>
              <a:rPr lang="en-US" dirty="0"/>
              <a:t>, </a:t>
            </a:r>
            <a:r>
              <a:rPr lang="en-US" dirty="0" err="1"/>
              <a:t>structuré</a:t>
            </a:r>
            <a:r>
              <a:rPr lang="en-US" dirty="0"/>
              <a:t> et </a:t>
            </a:r>
            <a:r>
              <a:rPr lang="en-US" dirty="0" err="1"/>
              <a:t>adapté</a:t>
            </a:r>
            <a:r>
              <a:rPr lang="en-US" dirty="0"/>
              <a:t> à un public </a:t>
            </a:r>
            <a:r>
              <a:rPr lang="en-US" dirty="0" err="1"/>
              <a:t>professionnel</a:t>
            </a:r>
            <a:r>
              <a:rPr lang="en-US" dirty="0"/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9BDDB70D-09FF-2B4F-FDFB-DCA64FDA6D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3533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B1A5BEA3-0283-FCC4-33F4-C538CCED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>
            <a:extLst>
              <a:ext uri="{FF2B5EF4-FFF2-40B4-BE49-F238E27FC236}">
                <a16:creationId xmlns:a16="http://schemas.microsoft.com/office/drawing/2014/main" id="{0DD3078A-CA5C-5E5E-D845-91C67201CC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FR" sz="1100" dirty="0">
                <a:solidFill>
                  <a:schemeClr val="bg1"/>
                </a:solidFill>
                <a:latin typeface="Montserrat" pitchFamily="2" charset="77"/>
              </a:rPr>
              <a:t>L’enjeu principal du projet est de démontrer la capacité du candidat à adopter une posture de consultant data, à comprendre les besoins d’un client et à produire des livrables professionnels.</a:t>
            </a:r>
          </a:p>
          <a:p>
            <a:pPr algn="just"/>
            <a:endParaRPr lang="en-FR" dirty="0">
              <a:solidFill>
                <a:schemeClr val="bg1"/>
              </a:solidFill>
              <a:latin typeface="Montserrat" pitchFamily="2" charset="77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A2EA1713-7872-DA2B-5083-16833366FE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91718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23DD85C-AB73-650F-21AC-93D057007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c28d163b2_2_0:notes">
            <a:extLst>
              <a:ext uri="{FF2B5EF4-FFF2-40B4-BE49-F238E27FC236}">
                <a16:creationId xmlns:a16="http://schemas.microsoft.com/office/drawing/2014/main" id="{9B82DB0E-263F-49E3-394D-568272CEBC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13c28d163b2_2_0:notes">
            <a:extLst>
              <a:ext uri="{FF2B5EF4-FFF2-40B4-BE49-F238E27FC236}">
                <a16:creationId xmlns:a16="http://schemas.microsoft.com/office/drawing/2014/main" id="{8368AF46-7480-DD8A-E4BE-0D4BBE7702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19896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B57745FE-09C6-2C7F-EF68-FAC84D42F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45B645DF-7E54-D7AA-7BD1-AC39E8F067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FR" dirty="0">
                <a:solidFill>
                  <a:schemeClr val="tx1"/>
                </a:solidFill>
              </a:rPr>
              <a:t>Le portfolio devra respecter des principes d’ergonomie simples et professionnels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FR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8CD86BAE-A793-A9A1-E288-96627F982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17765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74E71AB-AD8B-AF47-FAAD-B94342A7B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>
            <a:extLst>
              <a:ext uri="{FF2B5EF4-FFF2-40B4-BE49-F238E27FC236}">
                <a16:creationId xmlns:a16="http://schemas.microsoft.com/office/drawing/2014/main" id="{5AE4A69E-23CB-28C3-7B75-48ACA17051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FR" dirty="0"/>
              <a:t>Le portfolio devra intégrer les fonctionnalités suivantes :</a:t>
            </a:r>
          </a:p>
          <a:p>
            <a:endParaRPr lang="en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8" name="Google Shape;118;p7:notes">
            <a:extLst>
              <a:ext uri="{FF2B5EF4-FFF2-40B4-BE49-F238E27FC236}">
                <a16:creationId xmlns:a16="http://schemas.microsoft.com/office/drawing/2014/main" id="{C31D24D4-B7AD-C67A-EE2F-4BDC2092FA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41713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D039AB24-22EB-3BDE-2D4A-F37F8C088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>
            <a:extLst>
              <a:ext uri="{FF2B5EF4-FFF2-40B4-BE49-F238E27FC236}">
                <a16:creationId xmlns:a16="http://schemas.microsoft.com/office/drawing/2014/main" id="{D9924528-B3EF-86E0-9D77-6CE54EFDE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FR" dirty="0"/>
              <a:t>Le portfolio devra intégrer les fonctionnalités suivantes :</a:t>
            </a:r>
          </a:p>
          <a:p>
            <a:endParaRPr lang="en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8" name="Google Shape;118;p7:notes">
            <a:extLst>
              <a:ext uri="{FF2B5EF4-FFF2-40B4-BE49-F238E27FC236}">
                <a16:creationId xmlns:a16="http://schemas.microsoft.com/office/drawing/2014/main" id="{83971656-A949-D8BB-BB5B-C090D5812F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37896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B8797069-4640-5387-0C7F-B26012CFF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>
            <a:extLst>
              <a:ext uri="{FF2B5EF4-FFF2-40B4-BE49-F238E27FC236}">
                <a16:creationId xmlns:a16="http://schemas.microsoft.com/office/drawing/2014/main" id="{00387504-CACA-61C3-267B-8B2F97CC33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24" name="Google Shape;124;g250970d574d_0_0:notes">
            <a:extLst>
              <a:ext uri="{FF2B5EF4-FFF2-40B4-BE49-F238E27FC236}">
                <a16:creationId xmlns:a16="http://schemas.microsoft.com/office/drawing/2014/main" id="{6A757FB2-B894-B753-4AF4-BBA8D0FA0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08338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67AEC37E-E7BA-954A-0C2F-FFD69AB32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>
            <a:extLst>
              <a:ext uri="{FF2B5EF4-FFF2-40B4-BE49-F238E27FC236}">
                <a16:creationId xmlns:a16="http://schemas.microsoft.com/office/drawing/2014/main" id="{B3755523-9B2E-F0F7-1EDA-A5FEC112FD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250970d574d_0_0:notes">
            <a:extLst>
              <a:ext uri="{FF2B5EF4-FFF2-40B4-BE49-F238E27FC236}">
                <a16:creationId xmlns:a16="http://schemas.microsoft.com/office/drawing/2014/main" id="{D9B96AE8-4853-8341-CC80-9ED4A7A2BA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03300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FAD61FE3-FB55-0A2D-A130-88E5BAEEF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>
            <a:extLst>
              <a:ext uri="{FF2B5EF4-FFF2-40B4-BE49-F238E27FC236}">
                <a16:creationId xmlns:a16="http://schemas.microsoft.com/office/drawing/2014/main" id="{63804DE6-2E45-C4B3-4D62-DE6912AB5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9:notes">
            <a:extLst>
              <a:ext uri="{FF2B5EF4-FFF2-40B4-BE49-F238E27FC236}">
                <a16:creationId xmlns:a16="http://schemas.microsoft.com/office/drawing/2014/main" id="{747E4575-0DDE-E869-5437-657FEAEB1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9608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 err="1"/>
              <a:t>Mohammmed</a:t>
            </a:r>
            <a:r>
              <a:rPr lang="fr-FR" dirty="0"/>
              <a:t> </a:t>
            </a:r>
            <a:r>
              <a:rPr lang="fr-FR" dirty="0" err="1"/>
              <a:t>abbbakar</a:t>
            </a:r>
            <a:r>
              <a:rPr lang="fr-FR" dirty="0"/>
              <a:t>. Tito no</a:t>
            </a:r>
            <a:endParaRPr dirty="0"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F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6521473F-13C9-9586-6A63-37B5064E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>
            <a:extLst>
              <a:ext uri="{FF2B5EF4-FFF2-40B4-BE49-F238E27FC236}">
                <a16:creationId xmlns:a16="http://schemas.microsoft.com/office/drawing/2014/main" id="{9D5CA903-26B0-1F41-551C-EF54EEE051F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Cahier </a:t>
            </a:r>
            <a:r>
              <a:rPr lang="fr-FR" b="1" dirty="0">
                <a:solidFill>
                  <a:srgbClr val="6528F7"/>
                </a:solidFill>
                <a:latin typeface="Bradley Hand" pitchFamily="2" charset="77"/>
                <a:ea typeface="Montserrat"/>
                <a:cs typeface="Montserrat"/>
                <a:sym typeface="Montserrat"/>
              </a:rPr>
              <a:t>des</a:t>
            </a:r>
            <a:r>
              <a:rPr lang="fr-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charges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2DDE5ACA-3488-8CFA-9E64-9E483328FD5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dirty="0">
                <a:solidFill>
                  <a:srgbClr val="6528F7"/>
                </a:solidFill>
                <a:latin typeface="Montserrat"/>
                <a:ea typeface="Montserrat"/>
                <a:cs typeface="Montserrat"/>
                <a:sym typeface="Montserrat"/>
              </a:rPr>
              <a:t>Élaboration d’un Portfolio </a:t>
            </a:r>
            <a:endParaRPr dirty="0">
              <a:solidFill>
                <a:srgbClr val="6528F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413B027-1DDF-17C7-BE51-577851572618}"/>
              </a:ext>
            </a:extLst>
          </p:cNvPr>
          <p:cNvCxnSpPr/>
          <p:nvPr/>
        </p:nvCxnSpPr>
        <p:spPr>
          <a:xfrm>
            <a:off x="-29496" y="3038168"/>
            <a:ext cx="1799303" cy="0"/>
          </a:xfrm>
          <a:prstGeom prst="line">
            <a:avLst/>
          </a:prstGeom>
          <a:ln w="53975">
            <a:solidFill>
              <a:srgbClr val="6528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B7B3FE-3F02-DF16-101F-62A290931FBF}"/>
              </a:ext>
            </a:extLst>
          </p:cNvPr>
          <p:cNvCxnSpPr/>
          <p:nvPr/>
        </p:nvCxnSpPr>
        <p:spPr>
          <a:xfrm>
            <a:off x="10407445" y="3038168"/>
            <a:ext cx="1799303" cy="0"/>
          </a:xfrm>
          <a:prstGeom prst="line">
            <a:avLst/>
          </a:prstGeom>
          <a:ln w="53975">
            <a:solidFill>
              <a:srgbClr val="6528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28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BC57AC90-1A87-D169-E3B5-282B8619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>
            <a:extLst>
              <a:ext uri="{FF2B5EF4-FFF2-40B4-BE49-F238E27FC236}">
                <a16:creationId xmlns:a16="http://schemas.microsoft.com/office/drawing/2014/main" id="{A1313FE7-6C79-F5D2-14DD-A82AF1D149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3878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>
            <a:extLst>
              <a:ext uri="{FF2B5EF4-FFF2-40B4-BE49-F238E27FC236}">
                <a16:creationId xmlns:a16="http://schemas.microsoft.com/office/drawing/2014/main" id="{F369D474-89AF-78F1-AD51-C7261FB06C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49875" y="15631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1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r>
              <a:rPr lang="fr-FR" sz="176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1- Présentation du projet</a:t>
            </a:r>
            <a:endParaRPr lang="en-US" sz="246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1" lvl="0" indent="0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r>
              <a:rPr lang="en-US" sz="176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2- Enjeux et objectifs</a:t>
            </a:r>
          </a:p>
          <a:p>
            <a:pPr marL="2541" lvl="0" indent="0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None/>
            </a:pPr>
            <a:r>
              <a:rPr lang="fr-FR" sz="176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3- Équipe projet</a:t>
            </a:r>
            <a:endParaRPr sz="176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1" lvl="0" indent="0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None/>
            </a:pPr>
            <a:r>
              <a:rPr lang="fr-FR" sz="176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4- Spécifications ergonomiques</a:t>
            </a:r>
            <a:endParaRPr sz="176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1" lvl="0" indent="0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None/>
            </a:pPr>
            <a:r>
              <a:rPr lang="fr-FR" sz="176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5- Spécifications fonctionnelles</a:t>
            </a:r>
            <a:endParaRPr sz="176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1" lvl="0" indent="0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None/>
            </a:pPr>
            <a:r>
              <a:rPr lang="fr-FR" sz="176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6- Spécifications techniques</a:t>
            </a:r>
            <a:endParaRPr sz="176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1" lvl="0" indent="0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None/>
            </a:pPr>
            <a:r>
              <a:rPr lang="fr-FR" sz="176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7- Contraintes techniques et réglementaires</a:t>
            </a:r>
            <a:endParaRPr sz="176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1" lvl="0" indent="0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r>
              <a:rPr lang="fr-FR" sz="176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8- Qualité et performance</a:t>
            </a:r>
            <a:endParaRPr sz="176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1" lvl="0" indent="0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r>
              <a:rPr lang="fr-FR" sz="176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9- Rétroplanning</a:t>
            </a:r>
            <a:endParaRPr sz="246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1" lvl="0" indent="0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r>
              <a:rPr lang="fr-FR" sz="176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10- Devis</a:t>
            </a:r>
            <a:endParaRPr sz="246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65610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BDF16659-353C-4586-F4FE-CDE6175B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6;p15">
            <a:extLst>
              <a:ext uri="{FF2B5EF4-FFF2-40B4-BE49-F238E27FC236}">
                <a16:creationId xmlns:a16="http://schemas.microsoft.com/office/drawing/2014/main" id="{8651F629-EBFD-4DB0-86DE-6E34F686BB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Présentation </a:t>
            </a:r>
            <a:r>
              <a:rPr lang="fr-FR" b="1" dirty="0">
                <a:solidFill>
                  <a:srgbClr val="6528F7"/>
                </a:solidFill>
                <a:latin typeface="Bradley Hand" pitchFamily="2" charset="77"/>
                <a:ea typeface="Montserrat"/>
                <a:cs typeface="Montserrat"/>
                <a:sym typeface="Montserrat"/>
              </a:rPr>
              <a:t>du</a:t>
            </a:r>
            <a:r>
              <a:rPr lang="fr-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projet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97;p15">
            <a:extLst>
              <a:ext uri="{FF2B5EF4-FFF2-40B4-BE49-F238E27FC236}">
                <a16:creationId xmlns:a16="http://schemas.microsoft.com/office/drawing/2014/main" id="{78AA26B4-5970-959C-DD7D-CC0A580899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Montserrat"/>
              <a:buChar char="•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Courte présentation du projet</a:t>
            </a: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86111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87F6CF20-3C69-A3A3-831A-300244F73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>
            <a:extLst>
              <a:ext uri="{FF2B5EF4-FFF2-40B4-BE49-F238E27FC236}">
                <a16:creationId xmlns:a16="http://schemas.microsoft.com/office/drawing/2014/main" id="{967A13FC-6926-F5DF-3855-8EBE95DC25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028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Enjeux</a:t>
            </a:r>
            <a:r>
              <a:rPr lang="fr-FR" b="1" dirty="0">
                <a:solidFill>
                  <a:srgbClr val="61369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b="1" dirty="0">
                <a:solidFill>
                  <a:srgbClr val="6528F7"/>
                </a:solidFill>
                <a:latin typeface="Bradley Hand" pitchFamily="2" charset="77"/>
                <a:ea typeface="Montserrat"/>
                <a:cs typeface="Montserrat"/>
                <a:sym typeface="Montserrat"/>
              </a:rPr>
              <a:t>et</a:t>
            </a:r>
            <a:r>
              <a:rPr lang="fr-FR" b="1" dirty="0">
                <a:solidFill>
                  <a:srgbClr val="61369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objectifs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D91B88-D1FC-B31A-5CFB-BA00EB04B051}"/>
              </a:ext>
            </a:extLst>
          </p:cNvPr>
          <p:cNvGrpSpPr/>
          <p:nvPr/>
        </p:nvGrpSpPr>
        <p:grpSpPr>
          <a:xfrm>
            <a:off x="722933" y="2826295"/>
            <a:ext cx="10253656" cy="2114415"/>
            <a:chOff x="1047399" y="2369095"/>
            <a:chExt cx="10253656" cy="211441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D833A8E-901D-02A3-0E4A-69C4AC080638}"/>
                </a:ext>
              </a:extLst>
            </p:cNvPr>
            <p:cNvCxnSpPr>
              <a:cxnSpLocks/>
            </p:cNvCxnSpPr>
            <p:nvPr/>
          </p:nvCxnSpPr>
          <p:spPr>
            <a:xfrm>
              <a:off x="1047399" y="3429000"/>
              <a:ext cx="10091656" cy="0"/>
            </a:xfrm>
            <a:prstGeom prst="line">
              <a:avLst/>
            </a:prstGeom>
            <a:ln w="34925">
              <a:solidFill>
                <a:srgbClr val="6528F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9EDA83B-997D-BE5D-A832-42DBD9943697}"/>
                </a:ext>
              </a:extLst>
            </p:cNvPr>
            <p:cNvSpPr/>
            <p:nvPr/>
          </p:nvSpPr>
          <p:spPr>
            <a:xfrm>
              <a:off x="1047399" y="3239247"/>
              <a:ext cx="324000" cy="360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61F0A08-27B8-E317-3257-7AA91783BDE5}"/>
                </a:ext>
              </a:extLst>
            </p:cNvPr>
            <p:cNvSpPr/>
            <p:nvPr/>
          </p:nvSpPr>
          <p:spPr>
            <a:xfrm>
              <a:off x="3394359" y="3239247"/>
              <a:ext cx="324000" cy="360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52AD76-BCC0-A48A-2CC1-BCDC5E90AFB5}"/>
                </a:ext>
              </a:extLst>
            </p:cNvPr>
            <p:cNvSpPr/>
            <p:nvPr/>
          </p:nvSpPr>
          <p:spPr>
            <a:xfrm>
              <a:off x="5931227" y="3239247"/>
              <a:ext cx="324000" cy="360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F5DDFEC-94FF-A01D-F2D3-35E8C580B366}"/>
                </a:ext>
              </a:extLst>
            </p:cNvPr>
            <p:cNvSpPr/>
            <p:nvPr/>
          </p:nvSpPr>
          <p:spPr>
            <a:xfrm>
              <a:off x="8306095" y="3239247"/>
              <a:ext cx="324000" cy="360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B77EFC4-FA64-A680-FDDB-1E3082F85168}"/>
                </a:ext>
              </a:extLst>
            </p:cNvPr>
            <p:cNvSpPr/>
            <p:nvPr/>
          </p:nvSpPr>
          <p:spPr>
            <a:xfrm>
              <a:off x="10977055" y="3239247"/>
              <a:ext cx="324000" cy="360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271CC9-71D6-9299-C497-D4F2570CD133}"/>
                </a:ext>
              </a:extLst>
            </p:cNvPr>
            <p:cNvCxnSpPr>
              <a:cxnSpLocks/>
            </p:cNvCxnSpPr>
            <p:nvPr/>
          </p:nvCxnSpPr>
          <p:spPr>
            <a:xfrm>
              <a:off x="1224116" y="3613358"/>
              <a:ext cx="0" cy="8701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63ACBD-786D-AB30-BA0C-79EFF5894430}"/>
                </a:ext>
              </a:extLst>
            </p:cNvPr>
            <p:cNvCxnSpPr>
              <a:cxnSpLocks/>
            </p:cNvCxnSpPr>
            <p:nvPr/>
          </p:nvCxnSpPr>
          <p:spPr>
            <a:xfrm>
              <a:off x="3559278" y="2369095"/>
              <a:ext cx="0" cy="8701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684D456-D57E-9E16-ADF5-EB6CF021024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599247"/>
              <a:ext cx="0" cy="8701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E6C31FE-4588-DAF9-1738-DD2D353D531B}"/>
                </a:ext>
              </a:extLst>
            </p:cNvPr>
            <p:cNvCxnSpPr>
              <a:cxnSpLocks/>
            </p:cNvCxnSpPr>
            <p:nvPr/>
          </p:nvCxnSpPr>
          <p:spPr>
            <a:xfrm>
              <a:off x="8475406" y="2369095"/>
              <a:ext cx="0" cy="8701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9C5327E-2359-5A7F-CFE7-D8284EF42849}"/>
                </a:ext>
              </a:extLst>
            </p:cNvPr>
            <p:cNvCxnSpPr>
              <a:cxnSpLocks/>
            </p:cNvCxnSpPr>
            <p:nvPr/>
          </p:nvCxnSpPr>
          <p:spPr>
            <a:xfrm>
              <a:off x="11139055" y="3613358"/>
              <a:ext cx="0" cy="8701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43C6D6E-2995-F926-746B-DC29A4928FBE}"/>
              </a:ext>
            </a:extLst>
          </p:cNvPr>
          <p:cNvSpPr txBox="1"/>
          <p:nvPr/>
        </p:nvSpPr>
        <p:spPr>
          <a:xfrm>
            <a:off x="516195" y="4954821"/>
            <a:ext cx="7669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3300" b="1" dirty="0">
                <a:solidFill>
                  <a:srgbClr val="6528F7"/>
                </a:solidFill>
                <a:latin typeface="Montserrat" pitchFamily="2" charset="77"/>
              </a:rPr>
              <a:t>01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7E81DF-6209-C7C0-EF22-3B785BEBE2DA}"/>
              </a:ext>
            </a:extLst>
          </p:cNvPr>
          <p:cNvSpPr txBox="1"/>
          <p:nvPr/>
        </p:nvSpPr>
        <p:spPr>
          <a:xfrm>
            <a:off x="2848438" y="1512927"/>
            <a:ext cx="7669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3300" b="1" dirty="0">
                <a:solidFill>
                  <a:srgbClr val="6528F7"/>
                </a:solidFill>
                <a:latin typeface="Montserrat" pitchFamily="2" charset="77"/>
              </a:rPr>
              <a:t>02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E67CD8-E956-F716-AD5A-ED5540ADF2A6}"/>
              </a:ext>
            </a:extLst>
          </p:cNvPr>
          <p:cNvSpPr txBox="1"/>
          <p:nvPr/>
        </p:nvSpPr>
        <p:spPr>
          <a:xfrm>
            <a:off x="5373335" y="4954820"/>
            <a:ext cx="7669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3300" b="1" dirty="0">
                <a:solidFill>
                  <a:srgbClr val="6528F7"/>
                </a:solidFill>
                <a:latin typeface="Montserrat" pitchFamily="2" charset="77"/>
              </a:rPr>
              <a:t>03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0C6B41-22CA-2EE5-7C43-F021E1C3A91B}"/>
              </a:ext>
            </a:extLst>
          </p:cNvPr>
          <p:cNvSpPr txBox="1"/>
          <p:nvPr/>
        </p:nvSpPr>
        <p:spPr>
          <a:xfrm>
            <a:off x="7801727" y="1512927"/>
            <a:ext cx="100780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3300" b="1" dirty="0">
                <a:solidFill>
                  <a:srgbClr val="6528F7"/>
                </a:solidFill>
                <a:latin typeface="Montserrat" pitchFamily="2" charset="77"/>
              </a:rPr>
              <a:t>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F5B210-D452-1B56-40C9-413FB94370B4}"/>
              </a:ext>
            </a:extLst>
          </p:cNvPr>
          <p:cNvSpPr txBox="1"/>
          <p:nvPr/>
        </p:nvSpPr>
        <p:spPr>
          <a:xfrm>
            <a:off x="10390241" y="4926599"/>
            <a:ext cx="100780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3300" b="1" dirty="0">
                <a:solidFill>
                  <a:srgbClr val="6528F7"/>
                </a:solidFill>
                <a:latin typeface="Montserrat" pitchFamily="2" charset="77"/>
              </a:rPr>
              <a:t>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A27788-A687-4C02-78D0-1E374DEAFD26}"/>
              </a:ext>
            </a:extLst>
          </p:cNvPr>
          <p:cNvSpPr txBox="1"/>
          <p:nvPr/>
        </p:nvSpPr>
        <p:spPr>
          <a:xfrm>
            <a:off x="-17979" y="5554984"/>
            <a:ext cx="30436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Wingdings" pitchFamily="2" charset="2"/>
              <a:buChar char="v"/>
            </a:pPr>
            <a:r>
              <a:rPr lang="en-FR" dirty="0">
                <a:solidFill>
                  <a:schemeClr val="tx1"/>
                </a:solidFill>
                <a:latin typeface="Montserrat" pitchFamily="2" charset="77"/>
              </a:rPr>
              <a:t>Présenter le profil professionnel de Mohammed Abbakar.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221B1A-A4F2-3712-F119-42329B741D93}"/>
              </a:ext>
            </a:extLst>
          </p:cNvPr>
          <p:cNvSpPr txBox="1"/>
          <p:nvPr/>
        </p:nvSpPr>
        <p:spPr>
          <a:xfrm>
            <a:off x="1710078" y="2034560"/>
            <a:ext cx="30436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Clr>
                <a:schemeClr val="bg1"/>
              </a:buClr>
              <a:buFont typeface="Wingdings" pitchFamily="2" charset="2"/>
              <a:buChar char="v"/>
              <a:defRPr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FR" dirty="0"/>
              <a:t>Valoriser les compétences en analyse de données et en visualisation avec Power BI.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03CD92-B377-5CB9-BBD1-A569F5AEC9EE}"/>
              </a:ext>
            </a:extLst>
          </p:cNvPr>
          <p:cNvSpPr txBox="1"/>
          <p:nvPr/>
        </p:nvSpPr>
        <p:spPr>
          <a:xfrm>
            <a:off x="4423056" y="5554984"/>
            <a:ext cx="26674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Clr>
                <a:schemeClr val="bg1"/>
              </a:buClr>
              <a:buFont typeface="Wingdings" pitchFamily="2" charset="2"/>
              <a:buChar char="v"/>
              <a:defRPr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FR" dirty="0"/>
              <a:t>Mettre en avant les projets de formation.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8308E6-B501-491F-0C23-EE73E31786F2}"/>
              </a:ext>
            </a:extLst>
          </p:cNvPr>
          <p:cNvSpPr txBox="1"/>
          <p:nvPr/>
        </p:nvSpPr>
        <p:spPr>
          <a:xfrm>
            <a:off x="6817207" y="2031963"/>
            <a:ext cx="26674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Clr>
                <a:schemeClr val="bg1"/>
              </a:buClr>
              <a:buFont typeface="Wingdings" pitchFamily="2" charset="2"/>
              <a:buChar char="v"/>
              <a:defRPr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FR" dirty="0"/>
              <a:t>Centraliser les livrables réalisés pour la mission Aéroworld.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67C16A-0AFD-A2CC-84E6-EAD539BFD144}"/>
              </a:ext>
            </a:extLst>
          </p:cNvPr>
          <p:cNvSpPr txBox="1"/>
          <p:nvPr/>
        </p:nvSpPr>
        <p:spPr>
          <a:xfrm>
            <a:off x="9303155" y="5526763"/>
            <a:ext cx="26988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>
              <a:buClr>
                <a:schemeClr val="bg1"/>
              </a:buClr>
              <a:buFont typeface="Wingdings" pitchFamily="2" charset="2"/>
              <a:buChar char="v"/>
              <a:defRPr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FR" dirty="0"/>
              <a:t>Faciliter la présentation orale du candidat lors de l’entretien.</a:t>
            </a:r>
          </a:p>
        </p:txBody>
      </p:sp>
    </p:spTree>
    <p:extLst>
      <p:ext uri="{BB962C8B-B14F-4D97-AF65-F5344CB8AC3E}">
        <p14:creationId xmlns:p14="http://schemas.microsoft.com/office/powerpoint/2010/main" val="3746710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FC80D0D-EDFF-7532-C268-5D922897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>
            <a:extLst>
              <a:ext uri="{FF2B5EF4-FFF2-40B4-BE49-F238E27FC236}">
                <a16:creationId xmlns:a16="http://schemas.microsoft.com/office/drawing/2014/main" id="{822619D2-E327-A672-D69B-38620C9A1C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Équipe </a:t>
            </a:r>
            <a:r>
              <a:rPr lang="fr-FR" b="1" dirty="0">
                <a:solidFill>
                  <a:srgbClr val="6528F7"/>
                </a:solidFill>
                <a:latin typeface="Bradley Hand" pitchFamily="2" charset="77"/>
                <a:ea typeface="Montserrat"/>
                <a:cs typeface="Montserrat"/>
                <a:sym typeface="Montserrat"/>
              </a:rPr>
              <a:t>projet</a:t>
            </a:r>
            <a:endParaRPr b="1" dirty="0">
              <a:solidFill>
                <a:srgbClr val="6528F7"/>
              </a:solidFill>
              <a:latin typeface="Bradley Hand" pitchFamily="2" charset="77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9479D-38B7-F2FF-4AE9-D807406ADEEA}"/>
              </a:ext>
            </a:extLst>
          </p:cNvPr>
          <p:cNvSpPr txBox="1"/>
          <p:nvPr/>
        </p:nvSpPr>
        <p:spPr>
          <a:xfrm>
            <a:off x="7583549" y="1127695"/>
            <a:ext cx="1887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1600" dirty="0">
                <a:latin typeface="Montserrat" pitchFamily="2" charset="77"/>
              </a:rPr>
              <a:t>Rôles principaux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EB9C0-6B1A-50DE-BE38-E468F4E228BA}"/>
              </a:ext>
            </a:extLst>
          </p:cNvPr>
          <p:cNvSpPr txBox="1"/>
          <p:nvPr/>
        </p:nvSpPr>
        <p:spPr>
          <a:xfrm>
            <a:off x="838200" y="3177086"/>
            <a:ext cx="49726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4800" dirty="0">
                <a:latin typeface="Corben" panose="020F0505020000020004" pitchFamily="34" charset="0"/>
              </a:rPr>
              <a:t>Mohammed Abbakar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95C33-F393-466F-947A-8FEC494D387A}"/>
              </a:ext>
            </a:extLst>
          </p:cNvPr>
          <p:cNvSpPr txBox="1"/>
          <p:nvPr/>
        </p:nvSpPr>
        <p:spPr>
          <a:xfrm>
            <a:off x="753396" y="2311310"/>
            <a:ext cx="53426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3200" dirty="0">
                <a:latin typeface="Montserrat" pitchFamily="2" charset="77"/>
              </a:rPr>
              <a:t>Le projet est </a:t>
            </a:r>
            <a:r>
              <a:rPr lang="en-FR" sz="3200" dirty="0">
                <a:solidFill>
                  <a:srgbClr val="6528F7"/>
                </a:solidFill>
                <a:latin typeface="Bradley Hand" pitchFamily="2" charset="77"/>
              </a:rPr>
              <a:t>réalisé</a:t>
            </a:r>
            <a:r>
              <a:rPr lang="en-FR" sz="3200" dirty="0">
                <a:latin typeface="Montserrat" pitchFamily="2" charset="77"/>
              </a:rPr>
              <a:t> par </a:t>
            </a:r>
            <a:endParaRPr lang="en-FR" sz="3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41B0F0-3765-CF97-3EEF-27AC925B509A}"/>
              </a:ext>
            </a:extLst>
          </p:cNvPr>
          <p:cNvCxnSpPr>
            <a:cxnSpLocks/>
          </p:cNvCxnSpPr>
          <p:nvPr/>
        </p:nvCxnSpPr>
        <p:spPr>
          <a:xfrm>
            <a:off x="7226702" y="1445343"/>
            <a:ext cx="0" cy="4970209"/>
          </a:xfrm>
          <a:prstGeom prst="line">
            <a:avLst/>
          </a:prstGeom>
          <a:ln w="34925">
            <a:solidFill>
              <a:srgbClr val="6528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B82F741-47E7-CD30-2197-3C61586C6F7B}"/>
              </a:ext>
            </a:extLst>
          </p:cNvPr>
          <p:cNvSpPr/>
          <p:nvPr/>
        </p:nvSpPr>
        <p:spPr>
          <a:xfrm>
            <a:off x="6952965" y="1829275"/>
            <a:ext cx="554177" cy="543456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D2B1B4D-1C27-1A20-662F-AEE1F9F50405}"/>
              </a:ext>
            </a:extLst>
          </p:cNvPr>
          <p:cNvSpPr/>
          <p:nvPr/>
        </p:nvSpPr>
        <p:spPr>
          <a:xfrm>
            <a:off x="6952965" y="3058526"/>
            <a:ext cx="554177" cy="543456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0D15968-D949-BCAB-DB29-46F733EE92A9}"/>
              </a:ext>
            </a:extLst>
          </p:cNvPr>
          <p:cNvSpPr/>
          <p:nvPr/>
        </p:nvSpPr>
        <p:spPr>
          <a:xfrm>
            <a:off x="6952965" y="4287777"/>
            <a:ext cx="554177" cy="543456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B398238-B0AD-043A-7E1F-9DB501395277}"/>
              </a:ext>
            </a:extLst>
          </p:cNvPr>
          <p:cNvSpPr/>
          <p:nvPr/>
        </p:nvSpPr>
        <p:spPr>
          <a:xfrm>
            <a:off x="6952965" y="5517028"/>
            <a:ext cx="554177" cy="543456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5C4EA-B044-3B3A-CFAE-185C6304211D}"/>
              </a:ext>
            </a:extLst>
          </p:cNvPr>
          <p:cNvSpPr txBox="1"/>
          <p:nvPr/>
        </p:nvSpPr>
        <p:spPr>
          <a:xfrm>
            <a:off x="7029372" y="1935604"/>
            <a:ext cx="394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dirty="0">
                <a:latin typeface="Montserrat" pitchFamily="2" charset="77"/>
              </a:rP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2BFC22-8970-7BC2-9C1D-287C84F3B50A}"/>
              </a:ext>
            </a:extLst>
          </p:cNvPr>
          <p:cNvSpPr txBox="1"/>
          <p:nvPr/>
        </p:nvSpPr>
        <p:spPr>
          <a:xfrm>
            <a:off x="7029372" y="3176365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Montserrat" pitchFamily="2" charset="77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92E0EC-BA2E-4EA8-1B3E-CFBAC5C9C051}"/>
              </a:ext>
            </a:extLst>
          </p:cNvPr>
          <p:cNvSpPr txBox="1"/>
          <p:nvPr/>
        </p:nvSpPr>
        <p:spPr>
          <a:xfrm>
            <a:off x="7029372" y="4405616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Montserrat" pitchFamily="2" charset="77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4339DF-71FF-B665-5C88-81255EEE262E}"/>
              </a:ext>
            </a:extLst>
          </p:cNvPr>
          <p:cNvSpPr txBox="1"/>
          <p:nvPr/>
        </p:nvSpPr>
        <p:spPr>
          <a:xfrm>
            <a:off x="7030974" y="5634867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Montserrat" pitchFamily="2" charset="77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3DF158-93E8-AB37-5D9D-785D57E924FE}"/>
              </a:ext>
            </a:extLst>
          </p:cNvPr>
          <p:cNvSpPr txBox="1"/>
          <p:nvPr/>
        </p:nvSpPr>
        <p:spPr>
          <a:xfrm>
            <a:off x="7583549" y="1923598"/>
            <a:ext cx="34039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>
              <a:buFont typeface="Wingdings" pitchFamily="2" charset="2"/>
              <a:buChar char="v"/>
            </a:lvl1pPr>
          </a:lstStyle>
          <a:p>
            <a:r>
              <a:rPr lang="en-FR" sz="1600" dirty="0">
                <a:latin typeface="Montserrat" pitchFamily="2" charset="77"/>
              </a:rPr>
              <a:t>Analyse du besoin client et Rédaction des livrables.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2DF66A-AC48-F8ED-08EF-A57F6FAF8DFB}"/>
              </a:ext>
            </a:extLst>
          </p:cNvPr>
          <p:cNvSpPr txBox="1"/>
          <p:nvPr/>
        </p:nvSpPr>
        <p:spPr>
          <a:xfrm>
            <a:off x="7583549" y="3250683"/>
            <a:ext cx="3153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Wingdings" pitchFamily="2" charset="2"/>
              <a:buChar char="v"/>
            </a:lvl1pPr>
          </a:lstStyle>
          <a:p>
            <a:r>
              <a:rPr lang="en-FR" sz="1600" dirty="0">
                <a:latin typeface="Montserrat" pitchFamily="2" charset="77"/>
              </a:rPr>
              <a:t>Conception du portfolio.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30CE09-8C86-868B-C345-8F81F60EA8B6}"/>
              </a:ext>
            </a:extLst>
          </p:cNvPr>
          <p:cNvSpPr txBox="1"/>
          <p:nvPr/>
        </p:nvSpPr>
        <p:spPr>
          <a:xfrm>
            <a:off x="7583549" y="4503936"/>
            <a:ext cx="31532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FR" sz="1600" dirty="0">
                <a:latin typeface="Montserrat" pitchFamily="2" charset="77"/>
              </a:rPr>
              <a:t>Création des tableaux de bord Power BI.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1FE5A4-1628-7D49-08CE-B24EC71A215B}"/>
              </a:ext>
            </a:extLst>
          </p:cNvPr>
          <p:cNvSpPr txBox="1"/>
          <p:nvPr/>
        </p:nvSpPr>
        <p:spPr>
          <a:xfrm>
            <a:off x="7583549" y="5664855"/>
            <a:ext cx="41118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FR" sz="1600" dirty="0">
                <a:latin typeface="Montserrat" pitchFamily="2" charset="77"/>
              </a:rPr>
              <a:t>Réalisation de la documentation utilisateur.</a:t>
            </a:r>
          </a:p>
        </p:txBody>
      </p:sp>
    </p:spTree>
    <p:extLst>
      <p:ext uri="{BB962C8B-B14F-4D97-AF65-F5344CB8AC3E}">
        <p14:creationId xmlns:p14="http://schemas.microsoft.com/office/powerpoint/2010/main" val="184108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0167E1C3-25BC-B7B1-E184-F82011F3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4;p18">
            <a:extLst>
              <a:ext uri="{FF2B5EF4-FFF2-40B4-BE49-F238E27FC236}">
                <a16:creationId xmlns:a16="http://schemas.microsoft.com/office/drawing/2014/main" id="{E158F35F-60BE-56AF-6D8F-B00B10A92D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6188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Spécifications</a:t>
            </a:r>
            <a:r>
              <a:rPr lang="fr-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4000" b="1" dirty="0">
                <a:solidFill>
                  <a:srgbClr val="6528F7"/>
                </a:solidFill>
                <a:latin typeface="Bradley Hand" pitchFamily="2" charset="77"/>
                <a:ea typeface="Montserrat"/>
                <a:cs typeface="Montserrat"/>
                <a:sym typeface="Montserrat"/>
              </a:rPr>
              <a:t>ergonomiques</a:t>
            </a:r>
            <a:endParaRPr sz="4000" b="1" dirty="0">
              <a:solidFill>
                <a:srgbClr val="6528F7"/>
              </a:solidFill>
              <a:latin typeface="Bradley Hand" pitchFamily="2" charset="77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56D0F3-D02A-6E4B-AE7C-F1F88AB584DD}"/>
              </a:ext>
            </a:extLst>
          </p:cNvPr>
          <p:cNvSpPr txBox="1"/>
          <p:nvPr/>
        </p:nvSpPr>
        <p:spPr>
          <a:xfrm>
            <a:off x="5051937" y="-1585950"/>
            <a:ext cx="864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FR" dirty="0">
              <a:solidFill>
                <a:schemeClr val="tx1"/>
              </a:solidFill>
            </a:endParaRPr>
          </a:p>
          <a:p>
            <a:r>
              <a:rPr lang="en-FR" dirty="0">
                <a:solidFill>
                  <a:schemeClr val="tx1"/>
                </a:solidFill>
              </a:rPr>
              <a:t>- - -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0D99957-E7C0-C38D-6D7B-9ACD40E05315}"/>
              </a:ext>
            </a:extLst>
          </p:cNvPr>
          <p:cNvGrpSpPr/>
          <p:nvPr/>
        </p:nvGrpSpPr>
        <p:grpSpPr>
          <a:xfrm>
            <a:off x="1369142" y="1828799"/>
            <a:ext cx="2893142" cy="2020529"/>
            <a:chOff x="4544961" y="1828800"/>
            <a:chExt cx="2893142" cy="2020529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13CC762-C83B-0708-3739-B3960729C345}"/>
                </a:ext>
              </a:extLst>
            </p:cNvPr>
            <p:cNvSpPr/>
            <p:nvPr/>
          </p:nvSpPr>
          <p:spPr>
            <a:xfrm>
              <a:off x="4544961" y="1828800"/>
              <a:ext cx="2893142" cy="2020529"/>
            </a:xfrm>
            <a:custGeom>
              <a:avLst/>
              <a:gdLst>
                <a:gd name="csX0" fmla="*/ 189283 w 2893142"/>
                <a:gd name="csY0" fmla="*/ 0 h 2020529"/>
                <a:gd name="csX1" fmla="*/ 2229464 w 2893142"/>
                <a:gd name="csY1" fmla="*/ 0 h 2020529"/>
                <a:gd name="csX2" fmla="*/ 2229464 w 2893142"/>
                <a:gd name="csY2" fmla="*/ 437533 h 2020529"/>
                <a:gd name="csX3" fmla="*/ 2344995 w 2893142"/>
                <a:gd name="csY3" fmla="*/ 553064 h 2020529"/>
                <a:gd name="csX4" fmla="*/ 2893142 w 2893142"/>
                <a:gd name="csY4" fmla="*/ 553064 h 2020529"/>
                <a:gd name="csX5" fmla="*/ 2893142 w 2893142"/>
                <a:gd name="csY5" fmla="*/ 1831246 h 2020529"/>
                <a:gd name="csX6" fmla="*/ 2703859 w 2893142"/>
                <a:gd name="csY6" fmla="*/ 2020529 h 2020529"/>
                <a:gd name="csX7" fmla="*/ 189283 w 2893142"/>
                <a:gd name="csY7" fmla="*/ 2020529 h 2020529"/>
                <a:gd name="csX8" fmla="*/ 0 w 2893142"/>
                <a:gd name="csY8" fmla="*/ 1831246 h 2020529"/>
                <a:gd name="csX9" fmla="*/ 0 w 2893142"/>
                <a:gd name="csY9" fmla="*/ 189283 h 2020529"/>
                <a:gd name="csX10" fmla="*/ 189283 w 2893142"/>
                <a:gd name="csY10" fmla="*/ 0 h 20205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893142" h="2020529">
                  <a:moveTo>
                    <a:pt x="189283" y="0"/>
                  </a:moveTo>
                  <a:lnTo>
                    <a:pt x="2229464" y="0"/>
                  </a:lnTo>
                  <a:lnTo>
                    <a:pt x="2229464" y="437533"/>
                  </a:lnTo>
                  <a:cubicBezTo>
                    <a:pt x="2229464" y="501339"/>
                    <a:pt x="2281189" y="553064"/>
                    <a:pt x="2344995" y="553064"/>
                  </a:cubicBezTo>
                  <a:lnTo>
                    <a:pt x="2893142" y="553064"/>
                  </a:lnTo>
                  <a:lnTo>
                    <a:pt x="2893142" y="1831246"/>
                  </a:lnTo>
                  <a:cubicBezTo>
                    <a:pt x="2893142" y="1935784"/>
                    <a:pt x="2808397" y="2020529"/>
                    <a:pt x="2703859" y="2020529"/>
                  </a:cubicBezTo>
                  <a:lnTo>
                    <a:pt x="189283" y="2020529"/>
                  </a:lnTo>
                  <a:cubicBezTo>
                    <a:pt x="84745" y="2020529"/>
                    <a:pt x="0" y="1935784"/>
                    <a:pt x="0" y="1831246"/>
                  </a:cubicBezTo>
                  <a:lnTo>
                    <a:pt x="0" y="189283"/>
                  </a:lnTo>
                  <a:cubicBezTo>
                    <a:pt x="0" y="84745"/>
                    <a:pt x="84745" y="0"/>
                    <a:pt x="189283" y="0"/>
                  </a:cubicBezTo>
                  <a:close/>
                </a:path>
              </a:pathLst>
            </a:custGeom>
            <a:solidFill>
              <a:srgbClr val="9555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 dirty="0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4C089080-686F-815D-1067-F30F1CC01C93}"/>
                </a:ext>
              </a:extLst>
            </p:cNvPr>
            <p:cNvSpPr/>
            <p:nvPr/>
          </p:nvSpPr>
          <p:spPr>
            <a:xfrm>
              <a:off x="6848169" y="1828800"/>
              <a:ext cx="589934" cy="496206"/>
            </a:xfrm>
            <a:prstGeom prst="roundRect">
              <a:avLst/>
            </a:prstGeom>
            <a:solidFill>
              <a:srgbClr val="DDCD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F026839-94BB-31DD-A592-514BB5D71D6B}"/>
              </a:ext>
            </a:extLst>
          </p:cNvPr>
          <p:cNvGrpSpPr/>
          <p:nvPr/>
        </p:nvGrpSpPr>
        <p:grpSpPr>
          <a:xfrm>
            <a:off x="4649429" y="1828799"/>
            <a:ext cx="2893142" cy="2020529"/>
            <a:chOff x="4544961" y="1828800"/>
            <a:chExt cx="2893142" cy="2020529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6BFF55E-2BE4-C6A0-6D67-07C874DBFFA6}"/>
                </a:ext>
              </a:extLst>
            </p:cNvPr>
            <p:cNvSpPr/>
            <p:nvPr/>
          </p:nvSpPr>
          <p:spPr>
            <a:xfrm>
              <a:off x="4544961" y="1828800"/>
              <a:ext cx="2893142" cy="2020529"/>
            </a:xfrm>
            <a:custGeom>
              <a:avLst/>
              <a:gdLst>
                <a:gd name="csX0" fmla="*/ 189283 w 2893142"/>
                <a:gd name="csY0" fmla="*/ 0 h 2020529"/>
                <a:gd name="csX1" fmla="*/ 2229464 w 2893142"/>
                <a:gd name="csY1" fmla="*/ 0 h 2020529"/>
                <a:gd name="csX2" fmla="*/ 2229464 w 2893142"/>
                <a:gd name="csY2" fmla="*/ 437533 h 2020529"/>
                <a:gd name="csX3" fmla="*/ 2344995 w 2893142"/>
                <a:gd name="csY3" fmla="*/ 553064 h 2020529"/>
                <a:gd name="csX4" fmla="*/ 2893142 w 2893142"/>
                <a:gd name="csY4" fmla="*/ 553064 h 2020529"/>
                <a:gd name="csX5" fmla="*/ 2893142 w 2893142"/>
                <a:gd name="csY5" fmla="*/ 1831246 h 2020529"/>
                <a:gd name="csX6" fmla="*/ 2703859 w 2893142"/>
                <a:gd name="csY6" fmla="*/ 2020529 h 2020529"/>
                <a:gd name="csX7" fmla="*/ 189283 w 2893142"/>
                <a:gd name="csY7" fmla="*/ 2020529 h 2020529"/>
                <a:gd name="csX8" fmla="*/ 0 w 2893142"/>
                <a:gd name="csY8" fmla="*/ 1831246 h 2020529"/>
                <a:gd name="csX9" fmla="*/ 0 w 2893142"/>
                <a:gd name="csY9" fmla="*/ 189283 h 2020529"/>
                <a:gd name="csX10" fmla="*/ 189283 w 2893142"/>
                <a:gd name="csY10" fmla="*/ 0 h 20205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893142" h="2020529">
                  <a:moveTo>
                    <a:pt x="189283" y="0"/>
                  </a:moveTo>
                  <a:lnTo>
                    <a:pt x="2229464" y="0"/>
                  </a:lnTo>
                  <a:lnTo>
                    <a:pt x="2229464" y="437533"/>
                  </a:lnTo>
                  <a:cubicBezTo>
                    <a:pt x="2229464" y="501339"/>
                    <a:pt x="2281189" y="553064"/>
                    <a:pt x="2344995" y="553064"/>
                  </a:cubicBezTo>
                  <a:lnTo>
                    <a:pt x="2893142" y="553064"/>
                  </a:lnTo>
                  <a:lnTo>
                    <a:pt x="2893142" y="1831246"/>
                  </a:lnTo>
                  <a:cubicBezTo>
                    <a:pt x="2893142" y="1935784"/>
                    <a:pt x="2808397" y="2020529"/>
                    <a:pt x="2703859" y="2020529"/>
                  </a:cubicBezTo>
                  <a:lnTo>
                    <a:pt x="189283" y="2020529"/>
                  </a:lnTo>
                  <a:cubicBezTo>
                    <a:pt x="84745" y="2020529"/>
                    <a:pt x="0" y="1935784"/>
                    <a:pt x="0" y="1831246"/>
                  </a:cubicBezTo>
                  <a:lnTo>
                    <a:pt x="0" y="189283"/>
                  </a:lnTo>
                  <a:cubicBezTo>
                    <a:pt x="0" y="84745"/>
                    <a:pt x="84745" y="0"/>
                    <a:pt x="189283" y="0"/>
                  </a:cubicBezTo>
                  <a:close/>
                </a:path>
              </a:pathLst>
            </a:custGeom>
            <a:solidFill>
              <a:srgbClr val="9555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 dirty="0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380D6BC8-C41D-A4B5-737E-29774C998D8D}"/>
                </a:ext>
              </a:extLst>
            </p:cNvPr>
            <p:cNvSpPr/>
            <p:nvPr/>
          </p:nvSpPr>
          <p:spPr>
            <a:xfrm>
              <a:off x="6848169" y="1828800"/>
              <a:ext cx="589934" cy="496206"/>
            </a:xfrm>
            <a:prstGeom prst="roundRect">
              <a:avLst/>
            </a:prstGeom>
            <a:solidFill>
              <a:srgbClr val="DDAC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00666BF-DCFD-C309-7169-33C89A69EE35}"/>
              </a:ext>
            </a:extLst>
          </p:cNvPr>
          <p:cNvGrpSpPr/>
          <p:nvPr/>
        </p:nvGrpSpPr>
        <p:grpSpPr>
          <a:xfrm>
            <a:off x="7929716" y="1828799"/>
            <a:ext cx="2893142" cy="2020529"/>
            <a:chOff x="4544961" y="1828800"/>
            <a:chExt cx="2893142" cy="2020529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5B6B119-9389-68E3-1EF4-6061D3B42560}"/>
                </a:ext>
              </a:extLst>
            </p:cNvPr>
            <p:cNvSpPr/>
            <p:nvPr/>
          </p:nvSpPr>
          <p:spPr>
            <a:xfrm>
              <a:off x="4544961" y="1828800"/>
              <a:ext cx="2893142" cy="2020529"/>
            </a:xfrm>
            <a:custGeom>
              <a:avLst/>
              <a:gdLst>
                <a:gd name="csX0" fmla="*/ 189283 w 2893142"/>
                <a:gd name="csY0" fmla="*/ 0 h 2020529"/>
                <a:gd name="csX1" fmla="*/ 2229464 w 2893142"/>
                <a:gd name="csY1" fmla="*/ 0 h 2020529"/>
                <a:gd name="csX2" fmla="*/ 2229464 w 2893142"/>
                <a:gd name="csY2" fmla="*/ 437533 h 2020529"/>
                <a:gd name="csX3" fmla="*/ 2344995 w 2893142"/>
                <a:gd name="csY3" fmla="*/ 553064 h 2020529"/>
                <a:gd name="csX4" fmla="*/ 2893142 w 2893142"/>
                <a:gd name="csY4" fmla="*/ 553064 h 2020529"/>
                <a:gd name="csX5" fmla="*/ 2893142 w 2893142"/>
                <a:gd name="csY5" fmla="*/ 1831246 h 2020529"/>
                <a:gd name="csX6" fmla="*/ 2703859 w 2893142"/>
                <a:gd name="csY6" fmla="*/ 2020529 h 2020529"/>
                <a:gd name="csX7" fmla="*/ 189283 w 2893142"/>
                <a:gd name="csY7" fmla="*/ 2020529 h 2020529"/>
                <a:gd name="csX8" fmla="*/ 0 w 2893142"/>
                <a:gd name="csY8" fmla="*/ 1831246 h 2020529"/>
                <a:gd name="csX9" fmla="*/ 0 w 2893142"/>
                <a:gd name="csY9" fmla="*/ 189283 h 2020529"/>
                <a:gd name="csX10" fmla="*/ 189283 w 2893142"/>
                <a:gd name="csY10" fmla="*/ 0 h 20205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893142" h="2020529">
                  <a:moveTo>
                    <a:pt x="189283" y="0"/>
                  </a:moveTo>
                  <a:lnTo>
                    <a:pt x="2229464" y="0"/>
                  </a:lnTo>
                  <a:lnTo>
                    <a:pt x="2229464" y="437533"/>
                  </a:lnTo>
                  <a:cubicBezTo>
                    <a:pt x="2229464" y="501339"/>
                    <a:pt x="2281189" y="553064"/>
                    <a:pt x="2344995" y="553064"/>
                  </a:cubicBezTo>
                  <a:lnTo>
                    <a:pt x="2893142" y="553064"/>
                  </a:lnTo>
                  <a:lnTo>
                    <a:pt x="2893142" y="1831246"/>
                  </a:lnTo>
                  <a:cubicBezTo>
                    <a:pt x="2893142" y="1935784"/>
                    <a:pt x="2808397" y="2020529"/>
                    <a:pt x="2703859" y="2020529"/>
                  </a:cubicBezTo>
                  <a:lnTo>
                    <a:pt x="189283" y="2020529"/>
                  </a:lnTo>
                  <a:cubicBezTo>
                    <a:pt x="84745" y="2020529"/>
                    <a:pt x="0" y="1935784"/>
                    <a:pt x="0" y="1831246"/>
                  </a:cubicBezTo>
                  <a:lnTo>
                    <a:pt x="0" y="189283"/>
                  </a:lnTo>
                  <a:cubicBezTo>
                    <a:pt x="0" y="84745"/>
                    <a:pt x="84745" y="0"/>
                    <a:pt x="189283" y="0"/>
                  </a:cubicBezTo>
                  <a:close/>
                </a:path>
              </a:pathLst>
            </a:custGeom>
            <a:solidFill>
              <a:srgbClr val="9555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 dirty="0"/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6D1938DA-D1B6-04CD-B0C7-96AAACCD4F2B}"/>
                </a:ext>
              </a:extLst>
            </p:cNvPr>
            <p:cNvSpPr/>
            <p:nvPr/>
          </p:nvSpPr>
          <p:spPr>
            <a:xfrm>
              <a:off x="6848169" y="1828800"/>
              <a:ext cx="589934" cy="496206"/>
            </a:xfrm>
            <a:prstGeom prst="roundRect">
              <a:avLst/>
            </a:prstGeom>
            <a:solidFill>
              <a:srgbClr val="7E6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B87D1E5-B786-7ADD-9DAA-A1F1FE065682}"/>
              </a:ext>
            </a:extLst>
          </p:cNvPr>
          <p:cNvGrpSpPr/>
          <p:nvPr/>
        </p:nvGrpSpPr>
        <p:grpSpPr>
          <a:xfrm>
            <a:off x="1369142" y="4119715"/>
            <a:ext cx="2893142" cy="2020529"/>
            <a:chOff x="4544961" y="1828800"/>
            <a:chExt cx="2893142" cy="2020529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9D51D59-715C-F47D-3366-8F897C4A1855}"/>
                </a:ext>
              </a:extLst>
            </p:cNvPr>
            <p:cNvSpPr/>
            <p:nvPr/>
          </p:nvSpPr>
          <p:spPr>
            <a:xfrm>
              <a:off x="4544961" y="1828800"/>
              <a:ext cx="2893142" cy="2020529"/>
            </a:xfrm>
            <a:custGeom>
              <a:avLst/>
              <a:gdLst>
                <a:gd name="csX0" fmla="*/ 189283 w 2893142"/>
                <a:gd name="csY0" fmla="*/ 0 h 2020529"/>
                <a:gd name="csX1" fmla="*/ 2229464 w 2893142"/>
                <a:gd name="csY1" fmla="*/ 0 h 2020529"/>
                <a:gd name="csX2" fmla="*/ 2229464 w 2893142"/>
                <a:gd name="csY2" fmla="*/ 437533 h 2020529"/>
                <a:gd name="csX3" fmla="*/ 2344995 w 2893142"/>
                <a:gd name="csY3" fmla="*/ 553064 h 2020529"/>
                <a:gd name="csX4" fmla="*/ 2893142 w 2893142"/>
                <a:gd name="csY4" fmla="*/ 553064 h 2020529"/>
                <a:gd name="csX5" fmla="*/ 2893142 w 2893142"/>
                <a:gd name="csY5" fmla="*/ 1831246 h 2020529"/>
                <a:gd name="csX6" fmla="*/ 2703859 w 2893142"/>
                <a:gd name="csY6" fmla="*/ 2020529 h 2020529"/>
                <a:gd name="csX7" fmla="*/ 189283 w 2893142"/>
                <a:gd name="csY7" fmla="*/ 2020529 h 2020529"/>
                <a:gd name="csX8" fmla="*/ 0 w 2893142"/>
                <a:gd name="csY8" fmla="*/ 1831246 h 2020529"/>
                <a:gd name="csX9" fmla="*/ 0 w 2893142"/>
                <a:gd name="csY9" fmla="*/ 189283 h 2020529"/>
                <a:gd name="csX10" fmla="*/ 189283 w 2893142"/>
                <a:gd name="csY10" fmla="*/ 0 h 20205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893142" h="2020529">
                  <a:moveTo>
                    <a:pt x="189283" y="0"/>
                  </a:moveTo>
                  <a:lnTo>
                    <a:pt x="2229464" y="0"/>
                  </a:lnTo>
                  <a:lnTo>
                    <a:pt x="2229464" y="437533"/>
                  </a:lnTo>
                  <a:cubicBezTo>
                    <a:pt x="2229464" y="501339"/>
                    <a:pt x="2281189" y="553064"/>
                    <a:pt x="2344995" y="553064"/>
                  </a:cubicBezTo>
                  <a:lnTo>
                    <a:pt x="2893142" y="553064"/>
                  </a:lnTo>
                  <a:lnTo>
                    <a:pt x="2893142" y="1831246"/>
                  </a:lnTo>
                  <a:cubicBezTo>
                    <a:pt x="2893142" y="1935784"/>
                    <a:pt x="2808397" y="2020529"/>
                    <a:pt x="2703859" y="2020529"/>
                  </a:cubicBezTo>
                  <a:lnTo>
                    <a:pt x="189283" y="2020529"/>
                  </a:lnTo>
                  <a:cubicBezTo>
                    <a:pt x="84745" y="2020529"/>
                    <a:pt x="0" y="1935784"/>
                    <a:pt x="0" y="1831246"/>
                  </a:cubicBezTo>
                  <a:lnTo>
                    <a:pt x="0" y="189283"/>
                  </a:lnTo>
                  <a:cubicBezTo>
                    <a:pt x="0" y="84745"/>
                    <a:pt x="84745" y="0"/>
                    <a:pt x="189283" y="0"/>
                  </a:cubicBezTo>
                  <a:close/>
                </a:path>
              </a:pathLst>
            </a:custGeom>
            <a:solidFill>
              <a:srgbClr val="9555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 dirty="0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4AC38AEB-4381-CABC-36DE-52719878B052}"/>
                </a:ext>
              </a:extLst>
            </p:cNvPr>
            <p:cNvSpPr/>
            <p:nvPr/>
          </p:nvSpPr>
          <p:spPr>
            <a:xfrm>
              <a:off x="6848169" y="1828800"/>
              <a:ext cx="589934" cy="496206"/>
            </a:xfrm>
            <a:prstGeom prst="roundRect">
              <a:avLst/>
            </a:prstGeom>
            <a:solidFill>
              <a:srgbClr val="DDAC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50D3336-0DD8-E216-EB42-276C7C20A2D4}"/>
              </a:ext>
            </a:extLst>
          </p:cNvPr>
          <p:cNvGrpSpPr/>
          <p:nvPr/>
        </p:nvGrpSpPr>
        <p:grpSpPr>
          <a:xfrm>
            <a:off x="4649429" y="4119715"/>
            <a:ext cx="2893142" cy="2020529"/>
            <a:chOff x="4544961" y="1828800"/>
            <a:chExt cx="2893142" cy="202052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9F95123-2325-8BB5-EC8B-169D77D1CA23}"/>
                </a:ext>
              </a:extLst>
            </p:cNvPr>
            <p:cNvSpPr/>
            <p:nvPr/>
          </p:nvSpPr>
          <p:spPr>
            <a:xfrm>
              <a:off x="4544961" y="1828800"/>
              <a:ext cx="2893142" cy="2020529"/>
            </a:xfrm>
            <a:custGeom>
              <a:avLst/>
              <a:gdLst>
                <a:gd name="csX0" fmla="*/ 189283 w 2893142"/>
                <a:gd name="csY0" fmla="*/ 0 h 2020529"/>
                <a:gd name="csX1" fmla="*/ 2229464 w 2893142"/>
                <a:gd name="csY1" fmla="*/ 0 h 2020529"/>
                <a:gd name="csX2" fmla="*/ 2229464 w 2893142"/>
                <a:gd name="csY2" fmla="*/ 437533 h 2020529"/>
                <a:gd name="csX3" fmla="*/ 2344995 w 2893142"/>
                <a:gd name="csY3" fmla="*/ 553064 h 2020529"/>
                <a:gd name="csX4" fmla="*/ 2893142 w 2893142"/>
                <a:gd name="csY4" fmla="*/ 553064 h 2020529"/>
                <a:gd name="csX5" fmla="*/ 2893142 w 2893142"/>
                <a:gd name="csY5" fmla="*/ 1831246 h 2020529"/>
                <a:gd name="csX6" fmla="*/ 2703859 w 2893142"/>
                <a:gd name="csY6" fmla="*/ 2020529 h 2020529"/>
                <a:gd name="csX7" fmla="*/ 189283 w 2893142"/>
                <a:gd name="csY7" fmla="*/ 2020529 h 2020529"/>
                <a:gd name="csX8" fmla="*/ 0 w 2893142"/>
                <a:gd name="csY8" fmla="*/ 1831246 h 2020529"/>
                <a:gd name="csX9" fmla="*/ 0 w 2893142"/>
                <a:gd name="csY9" fmla="*/ 189283 h 2020529"/>
                <a:gd name="csX10" fmla="*/ 189283 w 2893142"/>
                <a:gd name="csY10" fmla="*/ 0 h 20205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893142" h="2020529">
                  <a:moveTo>
                    <a:pt x="189283" y="0"/>
                  </a:moveTo>
                  <a:lnTo>
                    <a:pt x="2229464" y="0"/>
                  </a:lnTo>
                  <a:lnTo>
                    <a:pt x="2229464" y="437533"/>
                  </a:lnTo>
                  <a:cubicBezTo>
                    <a:pt x="2229464" y="501339"/>
                    <a:pt x="2281189" y="553064"/>
                    <a:pt x="2344995" y="553064"/>
                  </a:cubicBezTo>
                  <a:lnTo>
                    <a:pt x="2893142" y="553064"/>
                  </a:lnTo>
                  <a:lnTo>
                    <a:pt x="2893142" y="1831246"/>
                  </a:lnTo>
                  <a:cubicBezTo>
                    <a:pt x="2893142" y="1935784"/>
                    <a:pt x="2808397" y="2020529"/>
                    <a:pt x="2703859" y="2020529"/>
                  </a:cubicBezTo>
                  <a:lnTo>
                    <a:pt x="189283" y="2020529"/>
                  </a:lnTo>
                  <a:cubicBezTo>
                    <a:pt x="84745" y="2020529"/>
                    <a:pt x="0" y="1935784"/>
                    <a:pt x="0" y="1831246"/>
                  </a:cubicBezTo>
                  <a:lnTo>
                    <a:pt x="0" y="189283"/>
                  </a:lnTo>
                  <a:cubicBezTo>
                    <a:pt x="0" y="84745"/>
                    <a:pt x="84745" y="0"/>
                    <a:pt x="189283" y="0"/>
                  </a:cubicBezTo>
                  <a:close/>
                </a:path>
              </a:pathLst>
            </a:custGeom>
            <a:solidFill>
              <a:srgbClr val="9555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 dirty="0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E8BD6816-4D76-D007-1E8A-818CC1FEE41F}"/>
                </a:ext>
              </a:extLst>
            </p:cNvPr>
            <p:cNvSpPr/>
            <p:nvPr/>
          </p:nvSpPr>
          <p:spPr>
            <a:xfrm>
              <a:off x="6848169" y="1828800"/>
              <a:ext cx="589934" cy="496206"/>
            </a:xfrm>
            <a:prstGeom prst="roundRect">
              <a:avLst/>
            </a:prstGeom>
            <a:solidFill>
              <a:srgbClr val="6136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932719C-A76B-567F-CA34-7C971EFA90EB}"/>
              </a:ext>
            </a:extLst>
          </p:cNvPr>
          <p:cNvGrpSpPr/>
          <p:nvPr/>
        </p:nvGrpSpPr>
        <p:grpSpPr>
          <a:xfrm>
            <a:off x="7929716" y="4119715"/>
            <a:ext cx="2893142" cy="2020529"/>
            <a:chOff x="4544961" y="1828800"/>
            <a:chExt cx="2893142" cy="2020529"/>
          </a:xfrm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A75DF6A2-913A-5A80-8979-01FEFC437D46}"/>
                </a:ext>
              </a:extLst>
            </p:cNvPr>
            <p:cNvSpPr/>
            <p:nvPr/>
          </p:nvSpPr>
          <p:spPr>
            <a:xfrm>
              <a:off x="4544961" y="1828800"/>
              <a:ext cx="2893142" cy="2020529"/>
            </a:xfrm>
            <a:custGeom>
              <a:avLst/>
              <a:gdLst>
                <a:gd name="csX0" fmla="*/ 189283 w 2893142"/>
                <a:gd name="csY0" fmla="*/ 0 h 2020529"/>
                <a:gd name="csX1" fmla="*/ 2229464 w 2893142"/>
                <a:gd name="csY1" fmla="*/ 0 h 2020529"/>
                <a:gd name="csX2" fmla="*/ 2229464 w 2893142"/>
                <a:gd name="csY2" fmla="*/ 437533 h 2020529"/>
                <a:gd name="csX3" fmla="*/ 2344995 w 2893142"/>
                <a:gd name="csY3" fmla="*/ 553064 h 2020529"/>
                <a:gd name="csX4" fmla="*/ 2893142 w 2893142"/>
                <a:gd name="csY4" fmla="*/ 553064 h 2020529"/>
                <a:gd name="csX5" fmla="*/ 2893142 w 2893142"/>
                <a:gd name="csY5" fmla="*/ 1831246 h 2020529"/>
                <a:gd name="csX6" fmla="*/ 2703859 w 2893142"/>
                <a:gd name="csY6" fmla="*/ 2020529 h 2020529"/>
                <a:gd name="csX7" fmla="*/ 189283 w 2893142"/>
                <a:gd name="csY7" fmla="*/ 2020529 h 2020529"/>
                <a:gd name="csX8" fmla="*/ 0 w 2893142"/>
                <a:gd name="csY8" fmla="*/ 1831246 h 2020529"/>
                <a:gd name="csX9" fmla="*/ 0 w 2893142"/>
                <a:gd name="csY9" fmla="*/ 189283 h 2020529"/>
                <a:gd name="csX10" fmla="*/ 189283 w 2893142"/>
                <a:gd name="csY10" fmla="*/ 0 h 20205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893142" h="2020529">
                  <a:moveTo>
                    <a:pt x="189283" y="0"/>
                  </a:moveTo>
                  <a:lnTo>
                    <a:pt x="2229464" y="0"/>
                  </a:lnTo>
                  <a:lnTo>
                    <a:pt x="2229464" y="437533"/>
                  </a:lnTo>
                  <a:cubicBezTo>
                    <a:pt x="2229464" y="501339"/>
                    <a:pt x="2281189" y="553064"/>
                    <a:pt x="2344995" y="553064"/>
                  </a:cubicBezTo>
                  <a:lnTo>
                    <a:pt x="2893142" y="553064"/>
                  </a:lnTo>
                  <a:lnTo>
                    <a:pt x="2893142" y="1831246"/>
                  </a:lnTo>
                  <a:cubicBezTo>
                    <a:pt x="2893142" y="1935784"/>
                    <a:pt x="2808397" y="2020529"/>
                    <a:pt x="2703859" y="2020529"/>
                  </a:cubicBezTo>
                  <a:lnTo>
                    <a:pt x="189283" y="2020529"/>
                  </a:lnTo>
                  <a:cubicBezTo>
                    <a:pt x="84745" y="2020529"/>
                    <a:pt x="0" y="1935784"/>
                    <a:pt x="0" y="1831246"/>
                  </a:cubicBezTo>
                  <a:lnTo>
                    <a:pt x="0" y="189283"/>
                  </a:lnTo>
                  <a:cubicBezTo>
                    <a:pt x="0" y="84745"/>
                    <a:pt x="84745" y="0"/>
                    <a:pt x="189283" y="0"/>
                  </a:cubicBezTo>
                  <a:close/>
                </a:path>
              </a:pathLst>
            </a:custGeom>
            <a:solidFill>
              <a:srgbClr val="9555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 dirty="0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A7930220-BF8A-8CA7-C14E-0E25F6DAA29A}"/>
                </a:ext>
              </a:extLst>
            </p:cNvPr>
            <p:cNvSpPr/>
            <p:nvPr/>
          </p:nvSpPr>
          <p:spPr>
            <a:xfrm>
              <a:off x="6848169" y="1828800"/>
              <a:ext cx="589934" cy="496206"/>
            </a:xfrm>
            <a:prstGeom prst="roundRect">
              <a:avLst/>
            </a:prstGeom>
            <a:solidFill>
              <a:srgbClr val="DDAC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40C6203-894E-2AE7-4BA4-F6FA300ABBAF}"/>
              </a:ext>
            </a:extLst>
          </p:cNvPr>
          <p:cNvSpPr txBox="1"/>
          <p:nvPr/>
        </p:nvSpPr>
        <p:spPr>
          <a:xfrm>
            <a:off x="1689612" y="2646329"/>
            <a:ext cx="2252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1600" dirty="0">
                <a:solidFill>
                  <a:srgbClr val="F2F2F2"/>
                </a:solidFill>
              </a:rPr>
              <a:t>Navigation claire et intuitive.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EC7DA0-C936-EF3C-624A-E5C87B04946E}"/>
              </a:ext>
            </a:extLst>
          </p:cNvPr>
          <p:cNvSpPr txBox="1"/>
          <p:nvPr/>
        </p:nvSpPr>
        <p:spPr>
          <a:xfrm>
            <a:off x="4854677" y="2646328"/>
            <a:ext cx="24826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1600">
                <a:solidFill>
                  <a:srgbClr val="F2F2F2"/>
                </a:solidFill>
              </a:defRPr>
            </a:lvl1pPr>
          </a:lstStyle>
          <a:p>
            <a:r>
              <a:rPr lang="en-FR" dirty="0"/>
              <a:t>Menu visible avec les principales rubriques.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45E757-909E-633D-6DC4-50D00506D942}"/>
              </a:ext>
            </a:extLst>
          </p:cNvPr>
          <p:cNvSpPr txBox="1"/>
          <p:nvPr/>
        </p:nvSpPr>
        <p:spPr>
          <a:xfrm>
            <a:off x="8266471" y="2595392"/>
            <a:ext cx="22196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1600">
                <a:solidFill>
                  <a:srgbClr val="F2F2F2"/>
                </a:solidFill>
              </a:defRPr>
            </a:lvl1pPr>
          </a:lstStyle>
          <a:p>
            <a:r>
              <a:rPr lang="en-FR" dirty="0"/>
              <a:t>Design sobre et professionnel.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FA3FD5-1FA4-F877-C731-97CDBC56809A}"/>
              </a:ext>
            </a:extLst>
          </p:cNvPr>
          <p:cNvSpPr txBox="1"/>
          <p:nvPr/>
        </p:nvSpPr>
        <p:spPr>
          <a:xfrm>
            <a:off x="1689612" y="4837590"/>
            <a:ext cx="2244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1600">
                <a:solidFill>
                  <a:srgbClr val="F2F2F2"/>
                </a:solidFill>
              </a:defRPr>
            </a:lvl1pPr>
          </a:lstStyle>
          <a:p>
            <a:r>
              <a:rPr lang="en-FR" dirty="0"/>
              <a:t>Lecture facile sur ordinateur et mobile.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3AD26A-CEDC-2DEC-82E2-C3D88B670166}"/>
              </a:ext>
            </a:extLst>
          </p:cNvPr>
          <p:cNvSpPr txBox="1"/>
          <p:nvPr/>
        </p:nvSpPr>
        <p:spPr>
          <a:xfrm>
            <a:off x="4854677" y="4764204"/>
            <a:ext cx="26282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1600">
                <a:solidFill>
                  <a:srgbClr val="F2F2F2"/>
                </a:solidFill>
              </a:defRPr>
            </a:lvl1pPr>
          </a:lstStyle>
          <a:p>
            <a:r>
              <a:rPr lang="en-FR" dirty="0"/>
              <a:t>Mise en avant des livrables par des liens ou boutons.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BABCD3-667A-7D8B-AD0D-899BF2E912E8}"/>
              </a:ext>
            </a:extLst>
          </p:cNvPr>
          <p:cNvSpPr txBox="1"/>
          <p:nvPr/>
        </p:nvSpPr>
        <p:spPr>
          <a:xfrm>
            <a:off x="8266471" y="4778715"/>
            <a:ext cx="24826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1600">
                <a:solidFill>
                  <a:srgbClr val="F2F2F2"/>
                </a:solidFill>
              </a:defRPr>
            </a:lvl1pPr>
          </a:lstStyle>
          <a:p>
            <a:r>
              <a:rPr lang="en-FR" dirty="0"/>
              <a:t>Utilisation de titres, icônes et visuels pour faciliter la compréhension.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AC25074-3FBB-0E27-FC5C-0B910A3A6B80}"/>
              </a:ext>
            </a:extLst>
          </p:cNvPr>
          <p:cNvCxnSpPr>
            <a:cxnSpLocks/>
          </p:cNvCxnSpPr>
          <p:nvPr/>
        </p:nvCxnSpPr>
        <p:spPr>
          <a:xfrm flipV="1">
            <a:off x="3827207" y="1957107"/>
            <a:ext cx="280219" cy="280457"/>
          </a:xfrm>
          <a:prstGeom prst="straightConnector1">
            <a:avLst/>
          </a:prstGeom>
          <a:ln w="412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C6B5BDF-5D01-E433-69E6-072E1B0D476E}"/>
              </a:ext>
            </a:extLst>
          </p:cNvPr>
          <p:cNvCxnSpPr>
            <a:cxnSpLocks/>
          </p:cNvCxnSpPr>
          <p:nvPr/>
        </p:nvCxnSpPr>
        <p:spPr>
          <a:xfrm flipV="1">
            <a:off x="10387781" y="1932444"/>
            <a:ext cx="280219" cy="280457"/>
          </a:xfrm>
          <a:prstGeom prst="straightConnector1">
            <a:avLst/>
          </a:prstGeom>
          <a:ln w="412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D3CC228-A63E-1D84-59DE-EEAA7CC9BCDC}"/>
              </a:ext>
            </a:extLst>
          </p:cNvPr>
          <p:cNvCxnSpPr>
            <a:cxnSpLocks/>
          </p:cNvCxnSpPr>
          <p:nvPr/>
        </p:nvCxnSpPr>
        <p:spPr>
          <a:xfrm flipV="1">
            <a:off x="10387781" y="4227589"/>
            <a:ext cx="280219" cy="280457"/>
          </a:xfrm>
          <a:prstGeom prst="straightConnector1">
            <a:avLst/>
          </a:prstGeom>
          <a:ln w="412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5349082-705E-8F66-5EDA-24D8903AAA9B}"/>
              </a:ext>
            </a:extLst>
          </p:cNvPr>
          <p:cNvCxnSpPr>
            <a:cxnSpLocks/>
          </p:cNvCxnSpPr>
          <p:nvPr/>
        </p:nvCxnSpPr>
        <p:spPr>
          <a:xfrm flipV="1">
            <a:off x="7107494" y="1932444"/>
            <a:ext cx="280219" cy="280457"/>
          </a:xfrm>
          <a:prstGeom prst="straightConnector1">
            <a:avLst/>
          </a:prstGeom>
          <a:ln w="412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C5D0F2E-B6A4-C40D-1E16-236DB349DD60}"/>
              </a:ext>
            </a:extLst>
          </p:cNvPr>
          <p:cNvCxnSpPr>
            <a:cxnSpLocks/>
          </p:cNvCxnSpPr>
          <p:nvPr/>
        </p:nvCxnSpPr>
        <p:spPr>
          <a:xfrm flipV="1">
            <a:off x="3827206" y="4237263"/>
            <a:ext cx="280219" cy="280457"/>
          </a:xfrm>
          <a:prstGeom prst="straightConnector1">
            <a:avLst/>
          </a:prstGeom>
          <a:ln w="412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F1FA51D-7A09-F2AF-0DEA-DCCFC093D02F}"/>
              </a:ext>
            </a:extLst>
          </p:cNvPr>
          <p:cNvCxnSpPr>
            <a:cxnSpLocks/>
          </p:cNvCxnSpPr>
          <p:nvPr/>
        </p:nvCxnSpPr>
        <p:spPr>
          <a:xfrm flipV="1">
            <a:off x="7107493" y="4227588"/>
            <a:ext cx="280219" cy="280457"/>
          </a:xfrm>
          <a:prstGeom prst="straightConnector1">
            <a:avLst/>
          </a:prstGeom>
          <a:ln w="41275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26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B9843F98-10EC-534C-CB1D-F0931E2F3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3FF32A0F-5788-3FAF-721B-B75E951430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44980" y="6110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 dirty="0">
                <a:latin typeface="Montserrat"/>
                <a:ea typeface="Montserrat"/>
                <a:cs typeface="Montserrat"/>
                <a:sym typeface="Montserrat"/>
              </a:rPr>
              <a:t>Spécifications</a:t>
            </a: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b="1" dirty="0">
                <a:solidFill>
                  <a:srgbClr val="6528F7"/>
                </a:solidFill>
                <a:latin typeface="Bradley Hand" pitchFamily="2" charset="77"/>
                <a:ea typeface="Montserrat"/>
                <a:cs typeface="Montserrat"/>
                <a:sym typeface="Montserrat"/>
              </a:rPr>
              <a:t>fonctionnelles</a:t>
            </a:r>
            <a:endParaRPr b="1" dirty="0">
              <a:solidFill>
                <a:srgbClr val="6528F7"/>
              </a:solidFill>
              <a:latin typeface="Bradley Hand" pitchFamily="2" charset="77"/>
              <a:ea typeface="Montserrat"/>
              <a:cs typeface="Montserrat"/>
              <a:sym typeface="Montserra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E13518-8C19-AD18-C267-FE24CAE75DE0}"/>
              </a:ext>
            </a:extLst>
          </p:cNvPr>
          <p:cNvCxnSpPr>
            <a:cxnSpLocks/>
          </p:cNvCxnSpPr>
          <p:nvPr/>
        </p:nvCxnSpPr>
        <p:spPr>
          <a:xfrm>
            <a:off x="3716594" y="3583858"/>
            <a:ext cx="8490154" cy="0"/>
          </a:xfrm>
          <a:prstGeom prst="line">
            <a:avLst/>
          </a:prstGeom>
          <a:ln w="38100">
            <a:solidFill>
              <a:srgbClr val="6528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845A6A7-2802-E729-BF04-F0576A3795DE}"/>
              </a:ext>
            </a:extLst>
          </p:cNvPr>
          <p:cNvSpPr/>
          <p:nvPr/>
        </p:nvSpPr>
        <p:spPr>
          <a:xfrm>
            <a:off x="3502742" y="3384754"/>
            <a:ext cx="324000" cy="324000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74A986-314C-1E72-622E-9DD697428869}"/>
              </a:ext>
            </a:extLst>
          </p:cNvPr>
          <p:cNvSpPr/>
          <p:nvPr/>
        </p:nvSpPr>
        <p:spPr>
          <a:xfrm>
            <a:off x="7140780" y="3429000"/>
            <a:ext cx="324000" cy="324000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163B61-ACF6-02D6-C94F-11D81A7908E7}"/>
              </a:ext>
            </a:extLst>
          </p:cNvPr>
          <p:cNvSpPr/>
          <p:nvPr/>
        </p:nvSpPr>
        <p:spPr>
          <a:xfrm>
            <a:off x="10683977" y="3384753"/>
            <a:ext cx="324000" cy="324000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5CC2E1-E8B6-A1F0-B69B-3506A534CB38}"/>
              </a:ext>
            </a:extLst>
          </p:cNvPr>
          <p:cNvCxnSpPr>
            <a:cxnSpLocks/>
          </p:cNvCxnSpPr>
          <p:nvPr/>
        </p:nvCxnSpPr>
        <p:spPr>
          <a:xfrm>
            <a:off x="3664742" y="2794822"/>
            <a:ext cx="0" cy="5899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1D6B14-D58E-E437-040F-839941FC1B8B}"/>
              </a:ext>
            </a:extLst>
          </p:cNvPr>
          <p:cNvCxnSpPr>
            <a:cxnSpLocks/>
          </p:cNvCxnSpPr>
          <p:nvPr/>
        </p:nvCxnSpPr>
        <p:spPr>
          <a:xfrm>
            <a:off x="7302780" y="3753000"/>
            <a:ext cx="0" cy="5899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36097F-F57E-4538-6F7B-635AF3E7ABBC}"/>
              </a:ext>
            </a:extLst>
          </p:cNvPr>
          <p:cNvCxnSpPr>
            <a:cxnSpLocks/>
          </p:cNvCxnSpPr>
          <p:nvPr/>
        </p:nvCxnSpPr>
        <p:spPr>
          <a:xfrm>
            <a:off x="10845977" y="2794822"/>
            <a:ext cx="0" cy="5899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F69A30C-AA8F-3480-B4F7-C6A9F3842066}"/>
              </a:ext>
            </a:extLst>
          </p:cNvPr>
          <p:cNvSpPr txBox="1"/>
          <p:nvPr/>
        </p:nvSpPr>
        <p:spPr>
          <a:xfrm>
            <a:off x="2586500" y="1899695"/>
            <a:ext cx="2260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1200" dirty="0"/>
              <a:t>Une page d’accueil présentant Mohammed Abbakar (À propos”)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B872EB-2518-CB37-9FBF-CE90E88E8621}"/>
              </a:ext>
            </a:extLst>
          </p:cNvPr>
          <p:cNvSpPr txBox="1"/>
          <p:nvPr/>
        </p:nvSpPr>
        <p:spPr>
          <a:xfrm>
            <a:off x="6096000" y="4370684"/>
            <a:ext cx="2413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1200" dirty="0"/>
              <a:t>Une section “Compétences techniques” et “Soft skills”.</a:t>
            </a:r>
          </a:p>
          <a:p>
            <a:pPr algn="ctr"/>
            <a:endParaRPr lang="en-FR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324D08-99D2-32A1-CEE7-493B7BB23854}"/>
              </a:ext>
            </a:extLst>
          </p:cNvPr>
          <p:cNvSpPr txBox="1"/>
          <p:nvPr/>
        </p:nvSpPr>
        <p:spPr>
          <a:xfrm>
            <a:off x="9411931" y="1912945"/>
            <a:ext cx="2544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1200" dirty="0"/>
              <a:t>Une section dédiée à la mission Aéroworld avec Des liens vers les livrables PDF ou documents</a:t>
            </a:r>
          </a:p>
        </p:txBody>
      </p:sp>
    </p:spTree>
    <p:extLst>
      <p:ext uri="{BB962C8B-B14F-4D97-AF65-F5344CB8AC3E}">
        <p14:creationId xmlns:p14="http://schemas.microsoft.com/office/powerpoint/2010/main" val="3988297224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C896D05D-A238-32FE-3F47-0B3775E2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7828EC91-C490-05BE-A780-92ED169090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5025" y="20943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 dirty="0">
                <a:latin typeface="Montserrat"/>
                <a:ea typeface="Montserrat"/>
                <a:cs typeface="Montserrat"/>
                <a:sym typeface="Montserrat"/>
              </a:rPr>
              <a:t>Spécifications</a:t>
            </a: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b="1" dirty="0">
                <a:solidFill>
                  <a:srgbClr val="6528F7"/>
                </a:solidFill>
                <a:latin typeface="Bradley Hand" pitchFamily="2" charset="77"/>
                <a:ea typeface="Montserrat"/>
                <a:cs typeface="Montserrat"/>
                <a:sym typeface="Montserrat"/>
              </a:rPr>
              <a:t>fonctionnelles</a:t>
            </a:r>
            <a:endParaRPr b="1" dirty="0">
              <a:solidFill>
                <a:srgbClr val="6528F7"/>
              </a:solidFill>
              <a:latin typeface="Bradley Hand" pitchFamily="2" charset="77"/>
              <a:ea typeface="Montserrat"/>
              <a:cs typeface="Montserrat"/>
              <a:sym typeface="Montserra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5FB4E37-4D20-AB82-03CA-F4FC916D3F59}"/>
              </a:ext>
            </a:extLst>
          </p:cNvPr>
          <p:cNvCxnSpPr>
            <a:cxnSpLocks/>
          </p:cNvCxnSpPr>
          <p:nvPr/>
        </p:nvCxnSpPr>
        <p:spPr>
          <a:xfrm>
            <a:off x="-14735" y="3583858"/>
            <a:ext cx="8519652" cy="0"/>
          </a:xfrm>
          <a:prstGeom prst="line">
            <a:avLst/>
          </a:prstGeom>
          <a:ln w="38100">
            <a:solidFill>
              <a:srgbClr val="6528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1F57259C-1597-4A23-E8FA-1A8F655744C1}"/>
              </a:ext>
            </a:extLst>
          </p:cNvPr>
          <p:cNvSpPr/>
          <p:nvPr/>
        </p:nvSpPr>
        <p:spPr>
          <a:xfrm>
            <a:off x="730265" y="3429000"/>
            <a:ext cx="324000" cy="324000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5B901A-8147-7D6B-5296-3FE1A5EE464C}"/>
              </a:ext>
            </a:extLst>
          </p:cNvPr>
          <p:cNvSpPr/>
          <p:nvPr/>
        </p:nvSpPr>
        <p:spPr>
          <a:xfrm>
            <a:off x="4395253" y="3429000"/>
            <a:ext cx="324000" cy="324000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AB836E4-3D7F-0D22-2A32-4B358EB7A471}"/>
              </a:ext>
            </a:extLst>
          </p:cNvPr>
          <p:cNvSpPr/>
          <p:nvPr/>
        </p:nvSpPr>
        <p:spPr>
          <a:xfrm>
            <a:off x="8291065" y="3384754"/>
            <a:ext cx="324000" cy="324000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EEFD29-566E-B5FC-3852-49686C4F21D4}"/>
              </a:ext>
            </a:extLst>
          </p:cNvPr>
          <p:cNvCxnSpPr>
            <a:cxnSpLocks/>
          </p:cNvCxnSpPr>
          <p:nvPr/>
        </p:nvCxnSpPr>
        <p:spPr>
          <a:xfrm>
            <a:off x="892265" y="3753000"/>
            <a:ext cx="0" cy="5899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F463D6-3D87-53DC-F743-8857AC176DCA}"/>
              </a:ext>
            </a:extLst>
          </p:cNvPr>
          <p:cNvCxnSpPr>
            <a:cxnSpLocks/>
          </p:cNvCxnSpPr>
          <p:nvPr/>
        </p:nvCxnSpPr>
        <p:spPr>
          <a:xfrm>
            <a:off x="4557253" y="2794823"/>
            <a:ext cx="0" cy="5899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04F2B0-84FD-AEFB-9919-EA95A85C0D5B}"/>
              </a:ext>
            </a:extLst>
          </p:cNvPr>
          <p:cNvCxnSpPr>
            <a:cxnSpLocks/>
          </p:cNvCxnSpPr>
          <p:nvPr/>
        </p:nvCxnSpPr>
        <p:spPr>
          <a:xfrm>
            <a:off x="8453065" y="3708754"/>
            <a:ext cx="0" cy="5899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D2132E0-5ADA-E905-0590-C0FC5155AAEE}"/>
              </a:ext>
            </a:extLst>
          </p:cNvPr>
          <p:cNvSpPr txBox="1"/>
          <p:nvPr/>
        </p:nvSpPr>
        <p:spPr>
          <a:xfrm>
            <a:off x="7561022" y="4410381"/>
            <a:ext cx="18877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1200" dirty="0"/>
              <a:t>Une section contact.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071F25-CC93-A50E-4C6D-9006A52E9BA6}"/>
              </a:ext>
            </a:extLst>
          </p:cNvPr>
          <p:cNvSpPr txBox="1"/>
          <p:nvPr/>
        </p:nvSpPr>
        <p:spPr>
          <a:xfrm>
            <a:off x="-14736" y="4372892"/>
            <a:ext cx="23007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1200" dirty="0"/>
              <a:t>Des captures ou liens vers les tableaux de bord Power BI.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F052E5-67CD-0B81-762A-61552ABAA95E}"/>
              </a:ext>
            </a:extLst>
          </p:cNvPr>
          <p:cNvSpPr txBox="1"/>
          <p:nvPr/>
        </p:nvSpPr>
        <p:spPr>
          <a:xfrm>
            <a:off x="3318392" y="2222523"/>
            <a:ext cx="2477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1200" dirty="0"/>
              <a:t>Un lien vers la vidéo de formation.</a:t>
            </a:r>
          </a:p>
        </p:txBody>
      </p:sp>
    </p:spTree>
    <p:extLst>
      <p:ext uri="{BB962C8B-B14F-4D97-AF65-F5344CB8AC3E}">
        <p14:creationId xmlns:p14="http://schemas.microsoft.com/office/powerpoint/2010/main" val="1646019396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6D6AF28B-DF55-BF1E-771E-95DAA932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FE78770-802A-567A-EFD5-FB0629DB0652}"/>
              </a:ext>
            </a:extLst>
          </p:cNvPr>
          <p:cNvGrpSpPr/>
          <p:nvPr/>
        </p:nvGrpSpPr>
        <p:grpSpPr>
          <a:xfrm rot="2716998">
            <a:off x="9525566" y="1953381"/>
            <a:ext cx="1396944" cy="1629801"/>
            <a:chOff x="3194461" y="2764218"/>
            <a:chExt cx="2113811" cy="3042813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2BECCCE-E056-316B-E94D-F12A8465EBA3}"/>
                </a:ext>
              </a:extLst>
            </p:cNvPr>
            <p:cNvSpPr/>
            <p:nvPr/>
          </p:nvSpPr>
          <p:spPr>
            <a:xfrm>
              <a:off x="4251365" y="2764218"/>
              <a:ext cx="1056907" cy="3042813"/>
            </a:xfrm>
            <a:custGeom>
              <a:avLst/>
              <a:gdLst>
                <a:gd name="csX0" fmla="*/ 2 w 1056907"/>
                <a:gd name="csY0" fmla="*/ 0 h 3042813"/>
                <a:gd name="csX1" fmla="*/ 3 w 1056907"/>
                <a:gd name="csY1" fmla="*/ 1 h 3042813"/>
                <a:gd name="csX2" fmla="*/ 1056907 w 1056907"/>
                <a:gd name="csY2" fmla="*/ 3042813 h 3042813"/>
                <a:gd name="csX3" fmla="*/ 1056905 w 1056907"/>
                <a:gd name="csY3" fmla="*/ 3042813 h 3042813"/>
                <a:gd name="csX4" fmla="*/ 2 w 1056907"/>
                <a:gd name="csY4" fmla="*/ 1985909 h 3042813"/>
                <a:gd name="csX5" fmla="*/ 0 w 1056907"/>
                <a:gd name="csY5" fmla="*/ 1985911 h 3042813"/>
                <a:gd name="csX6" fmla="*/ 0 w 1056907"/>
                <a:gd name="csY6" fmla="*/ 4 h 3042813"/>
                <a:gd name="csX7" fmla="*/ 1 w 1056907"/>
                <a:gd name="csY7" fmla="*/ 1 h 3042813"/>
                <a:gd name="csX8" fmla="*/ 2 w 1056907"/>
                <a:gd name="csY8" fmla="*/ 0 h 3042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56907" h="3042813">
                  <a:moveTo>
                    <a:pt x="2" y="0"/>
                  </a:moveTo>
                  <a:lnTo>
                    <a:pt x="3" y="1"/>
                  </a:lnTo>
                  <a:lnTo>
                    <a:pt x="1056907" y="3042813"/>
                  </a:lnTo>
                  <a:lnTo>
                    <a:pt x="1056905" y="3042813"/>
                  </a:lnTo>
                  <a:lnTo>
                    <a:pt x="2" y="1985909"/>
                  </a:lnTo>
                  <a:lnTo>
                    <a:pt x="0" y="1985911"/>
                  </a:lnTo>
                  <a:lnTo>
                    <a:pt x="0" y="4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528F7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63701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0E07A08-AA53-28F2-CFFE-5098CC46BAEE}"/>
                </a:ext>
              </a:extLst>
            </p:cNvPr>
            <p:cNvSpPr/>
            <p:nvPr/>
          </p:nvSpPr>
          <p:spPr>
            <a:xfrm>
              <a:off x="3194461" y="2764222"/>
              <a:ext cx="1056904" cy="3042809"/>
            </a:xfrm>
            <a:custGeom>
              <a:avLst/>
              <a:gdLst>
                <a:gd name="csX0" fmla="*/ 1056904 w 1056904"/>
                <a:gd name="csY0" fmla="*/ 0 h 3042809"/>
                <a:gd name="csX1" fmla="*/ 1056904 w 1056904"/>
                <a:gd name="csY1" fmla="*/ 1985907 h 3042809"/>
                <a:gd name="csX2" fmla="*/ 2 w 1056904"/>
                <a:gd name="csY2" fmla="*/ 3042809 h 3042809"/>
                <a:gd name="csX3" fmla="*/ 0 w 1056904"/>
                <a:gd name="csY3" fmla="*/ 3042809 h 3042809"/>
                <a:gd name="csX4" fmla="*/ 1056904 w 1056904"/>
                <a:gd name="csY4" fmla="*/ 0 h 30428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56904" h="3042809">
                  <a:moveTo>
                    <a:pt x="1056904" y="0"/>
                  </a:moveTo>
                  <a:lnTo>
                    <a:pt x="1056904" y="1985907"/>
                  </a:lnTo>
                  <a:lnTo>
                    <a:pt x="2" y="3042809"/>
                  </a:lnTo>
                  <a:lnTo>
                    <a:pt x="0" y="3042809"/>
                  </a:lnTo>
                  <a:lnTo>
                    <a:pt x="1056904" y="0"/>
                  </a:lnTo>
                  <a:close/>
                </a:path>
              </a:pathLst>
            </a:custGeom>
            <a:solidFill>
              <a:srgbClr val="EDE4F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7FDCD2-01D1-E93A-DB53-AB4AC814EA98}"/>
              </a:ext>
            </a:extLst>
          </p:cNvPr>
          <p:cNvGrpSpPr/>
          <p:nvPr/>
        </p:nvGrpSpPr>
        <p:grpSpPr>
          <a:xfrm rot="4502709">
            <a:off x="4328583" y="3114842"/>
            <a:ext cx="1565196" cy="1981131"/>
            <a:chOff x="3194461" y="2764218"/>
            <a:chExt cx="2113811" cy="3042813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73914B5-E1C5-1A28-2A2A-18562830E47E}"/>
                </a:ext>
              </a:extLst>
            </p:cNvPr>
            <p:cNvSpPr/>
            <p:nvPr/>
          </p:nvSpPr>
          <p:spPr>
            <a:xfrm>
              <a:off x="4251365" y="2764218"/>
              <a:ext cx="1056907" cy="3042813"/>
            </a:xfrm>
            <a:custGeom>
              <a:avLst/>
              <a:gdLst>
                <a:gd name="csX0" fmla="*/ 2 w 1056907"/>
                <a:gd name="csY0" fmla="*/ 0 h 3042813"/>
                <a:gd name="csX1" fmla="*/ 3 w 1056907"/>
                <a:gd name="csY1" fmla="*/ 1 h 3042813"/>
                <a:gd name="csX2" fmla="*/ 1056907 w 1056907"/>
                <a:gd name="csY2" fmla="*/ 3042813 h 3042813"/>
                <a:gd name="csX3" fmla="*/ 1056905 w 1056907"/>
                <a:gd name="csY3" fmla="*/ 3042813 h 3042813"/>
                <a:gd name="csX4" fmla="*/ 2 w 1056907"/>
                <a:gd name="csY4" fmla="*/ 1985909 h 3042813"/>
                <a:gd name="csX5" fmla="*/ 0 w 1056907"/>
                <a:gd name="csY5" fmla="*/ 1985911 h 3042813"/>
                <a:gd name="csX6" fmla="*/ 0 w 1056907"/>
                <a:gd name="csY6" fmla="*/ 4 h 3042813"/>
                <a:gd name="csX7" fmla="*/ 1 w 1056907"/>
                <a:gd name="csY7" fmla="*/ 1 h 3042813"/>
                <a:gd name="csX8" fmla="*/ 2 w 1056907"/>
                <a:gd name="csY8" fmla="*/ 0 h 3042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56907" h="3042813">
                  <a:moveTo>
                    <a:pt x="2" y="0"/>
                  </a:moveTo>
                  <a:lnTo>
                    <a:pt x="3" y="1"/>
                  </a:lnTo>
                  <a:lnTo>
                    <a:pt x="1056907" y="3042813"/>
                  </a:lnTo>
                  <a:lnTo>
                    <a:pt x="1056905" y="3042813"/>
                  </a:lnTo>
                  <a:lnTo>
                    <a:pt x="2" y="1985909"/>
                  </a:lnTo>
                  <a:lnTo>
                    <a:pt x="0" y="1985911"/>
                  </a:lnTo>
                  <a:lnTo>
                    <a:pt x="0" y="4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528F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096FBA3-3349-D771-9CB7-97A2C2E5CFA8}"/>
                </a:ext>
              </a:extLst>
            </p:cNvPr>
            <p:cNvSpPr/>
            <p:nvPr/>
          </p:nvSpPr>
          <p:spPr>
            <a:xfrm>
              <a:off x="3194461" y="2764222"/>
              <a:ext cx="1056904" cy="3042809"/>
            </a:xfrm>
            <a:custGeom>
              <a:avLst/>
              <a:gdLst>
                <a:gd name="csX0" fmla="*/ 1056904 w 1056904"/>
                <a:gd name="csY0" fmla="*/ 0 h 3042809"/>
                <a:gd name="csX1" fmla="*/ 1056904 w 1056904"/>
                <a:gd name="csY1" fmla="*/ 1985907 h 3042809"/>
                <a:gd name="csX2" fmla="*/ 2 w 1056904"/>
                <a:gd name="csY2" fmla="*/ 3042809 h 3042809"/>
                <a:gd name="csX3" fmla="*/ 0 w 1056904"/>
                <a:gd name="csY3" fmla="*/ 3042809 h 3042809"/>
                <a:gd name="csX4" fmla="*/ 1056904 w 1056904"/>
                <a:gd name="csY4" fmla="*/ 0 h 30428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56904" h="3042809">
                  <a:moveTo>
                    <a:pt x="1056904" y="0"/>
                  </a:moveTo>
                  <a:lnTo>
                    <a:pt x="1056904" y="1985907"/>
                  </a:lnTo>
                  <a:lnTo>
                    <a:pt x="2" y="3042809"/>
                  </a:lnTo>
                  <a:lnTo>
                    <a:pt x="0" y="3042809"/>
                  </a:lnTo>
                  <a:lnTo>
                    <a:pt x="1056904" y="0"/>
                  </a:lnTo>
                  <a:close/>
                </a:path>
              </a:pathLst>
            </a:custGeom>
            <a:solidFill>
              <a:srgbClr val="EDE4FF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AC141C-FE76-D9AE-B4FC-80357E3A1C6A}"/>
              </a:ext>
            </a:extLst>
          </p:cNvPr>
          <p:cNvGrpSpPr/>
          <p:nvPr/>
        </p:nvGrpSpPr>
        <p:grpSpPr>
          <a:xfrm rot="7219720">
            <a:off x="1566072" y="2603324"/>
            <a:ext cx="1565196" cy="1981131"/>
            <a:chOff x="3194461" y="2764218"/>
            <a:chExt cx="2113811" cy="3042813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1C26985-313F-AB1B-04A3-E7A88AF45E43}"/>
                </a:ext>
              </a:extLst>
            </p:cNvPr>
            <p:cNvSpPr/>
            <p:nvPr/>
          </p:nvSpPr>
          <p:spPr>
            <a:xfrm>
              <a:off x="4251365" y="2764218"/>
              <a:ext cx="1056907" cy="3042813"/>
            </a:xfrm>
            <a:custGeom>
              <a:avLst/>
              <a:gdLst>
                <a:gd name="csX0" fmla="*/ 2 w 1056907"/>
                <a:gd name="csY0" fmla="*/ 0 h 3042813"/>
                <a:gd name="csX1" fmla="*/ 3 w 1056907"/>
                <a:gd name="csY1" fmla="*/ 1 h 3042813"/>
                <a:gd name="csX2" fmla="*/ 1056907 w 1056907"/>
                <a:gd name="csY2" fmla="*/ 3042813 h 3042813"/>
                <a:gd name="csX3" fmla="*/ 1056905 w 1056907"/>
                <a:gd name="csY3" fmla="*/ 3042813 h 3042813"/>
                <a:gd name="csX4" fmla="*/ 2 w 1056907"/>
                <a:gd name="csY4" fmla="*/ 1985909 h 3042813"/>
                <a:gd name="csX5" fmla="*/ 0 w 1056907"/>
                <a:gd name="csY5" fmla="*/ 1985911 h 3042813"/>
                <a:gd name="csX6" fmla="*/ 0 w 1056907"/>
                <a:gd name="csY6" fmla="*/ 4 h 3042813"/>
                <a:gd name="csX7" fmla="*/ 1 w 1056907"/>
                <a:gd name="csY7" fmla="*/ 1 h 3042813"/>
                <a:gd name="csX8" fmla="*/ 2 w 1056907"/>
                <a:gd name="csY8" fmla="*/ 0 h 3042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56907" h="3042813">
                  <a:moveTo>
                    <a:pt x="2" y="0"/>
                  </a:moveTo>
                  <a:lnTo>
                    <a:pt x="3" y="1"/>
                  </a:lnTo>
                  <a:lnTo>
                    <a:pt x="1056907" y="3042813"/>
                  </a:lnTo>
                  <a:lnTo>
                    <a:pt x="1056905" y="3042813"/>
                  </a:lnTo>
                  <a:lnTo>
                    <a:pt x="2" y="1985909"/>
                  </a:lnTo>
                  <a:lnTo>
                    <a:pt x="0" y="1985911"/>
                  </a:lnTo>
                  <a:lnTo>
                    <a:pt x="0" y="4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528F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4098EE9-233F-7EDF-ED46-2FA80FDEE1B7}"/>
                </a:ext>
              </a:extLst>
            </p:cNvPr>
            <p:cNvSpPr/>
            <p:nvPr/>
          </p:nvSpPr>
          <p:spPr>
            <a:xfrm>
              <a:off x="3194461" y="2764222"/>
              <a:ext cx="1056904" cy="3042809"/>
            </a:xfrm>
            <a:custGeom>
              <a:avLst/>
              <a:gdLst>
                <a:gd name="csX0" fmla="*/ 1056904 w 1056904"/>
                <a:gd name="csY0" fmla="*/ 0 h 3042809"/>
                <a:gd name="csX1" fmla="*/ 1056904 w 1056904"/>
                <a:gd name="csY1" fmla="*/ 1985907 h 3042809"/>
                <a:gd name="csX2" fmla="*/ 2 w 1056904"/>
                <a:gd name="csY2" fmla="*/ 3042809 h 3042809"/>
                <a:gd name="csX3" fmla="*/ 0 w 1056904"/>
                <a:gd name="csY3" fmla="*/ 3042809 h 3042809"/>
                <a:gd name="csX4" fmla="*/ 1056904 w 1056904"/>
                <a:gd name="csY4" fmla="*/ 0 h 30428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56904" h="3042809">
                  <a:moveTo>
                    <a:pt x="1056904" y="0"/>
                  </a:moveTo>
                  <a:lnTo>
                    <a:pt x="1056904" y="1985907"/>
                  </a:lnTo>
                  <a:lnTo>
                    <a:pt x="2" y="3042809"/>
                  </a:lnTo>
                  <a:lnTo>
                    <a:pt x="0" y="3042809"/>
                  </a:lnTo>
                  <a:lnTo>
                    <a:pt x="1056904" y="0"/>
                  </a:lnTo>
                  <a:close/>
                </a:path>
              </a:pathLst>
            </a:custGeom>
            <a:solidFill>
              <a:srgbClr val="EDE4FF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C1193FF-C00B-6726-ABAC-CF8ABC710E70}"/>
              </a:ext>
            </a:extLst>
          </p:cNvPr>
          <p:cNvGrpSpPr/>
          <p:nvPr/>
        </p:nvGrpSpPr>
        <p:grpSpPr>
          <a:xfrm rot="3789505">
            <a:off x="7335683" y="2855567"/>
            <a:ext cx="1565196" cy="1981131"/>
            <a:chOff x="3194461" y="2764218"/>
            <a:chExt cx="2113811" cy="3042813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5AD4643-6871-123F-2601-B992C77B7DC3}"/>
                </a:ext>
              </a:extLst>
            </p:cNvPr>
            <p:cNvSpPr/>
            <p:nvPr/>
          </p:nvSpPr>
          <p:spPr>
            <a:xfrm>
              <a:off x="4251365" y="2764218"/>
              <a:ext cx="1056907" cy="3042813"/>
            </a:xfrm>
            <a:custGeom>
              <a:avLst/>
              <a:gdLst>
                <a:gd name="csX0" fmla="*/ 2 w 1056907"/>
                <a:gd name="csY0" fmla="*/ 0 h 3042813"/>
                <a:gd name="csX1" fmla="*/ 3 w 1056907"/>
                <a:gd name="csY1" fmla="*/ 1 h 3042813"/>
                <a:gd name="csX2" fmla="*/ 1056907 w 1056907"/>
                <a:gd name="csY2" fmla="*/ 3042813 h 3042813"/>
                <a:gd name="csX3" fmla="*/ 1056905 w 1056907"/>
                <a:gd name="csY3" fmla="*/ 3042813 h 3042813"/>
                <a:gd name="csX4" fmla="*/ 2 w 1056907"/>
                <a:gd name="csY4" fmla="*/ 1985909 h 3042813"/>
                <a:gd name="csX5" fmla="*/ 0 w 1056907"/>
                <a:gd name="csY5" fmla="*/ 1985911 h 3042813"/>
                <a:gd name="csX6" fmla="*/ 0 w 1056907"/>
                <a:gd name="csY6" fmla="*/ 4 h 3042813"/>
                <a:gd name="csX7" fmla="*/ 1 w 1056907"/>
                <a:gd name="csY7" fmla="*/ 1 h 3042813"/>
                <a:gd name="csX8" fmla="*/ 2 w 1056907"/>
                <a:gd name="csY8" fmla="*/ 0 h 3042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56907" h="3042813">
                  <a:moveTo>
                    <a:pt x="2" y="0"/>
                  </a:moveTo>
                  <a:lnTo>
                    <a:pt x="3" y="1"/>
                  </a:lnTo>
                  <a:lnTo>
                    <a:pt x="1056907" y="3042813"/>
                  </a:lnTo>
                  <a:lnTo>
                    <a:pt x="1056905" y="3042813"/>
                  </a:lnTo>
                  <a:lnTo>
                    <a:pt x="2" y="1985909"/>
                  </a:lnTo>
                  <a:lnTo>
                    <a:pt x="0" y="1985911"/>
                  </a:lnTo>
                  <a:lnTo>
                    <a:pt x="0" y="4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528F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FC77B4B-D484-1EA2-9F07-0E1FE50F52F3}"/>
                </a:ext>
              </a:extLst>
            </p:cNvPr>
            <p:cNvSpPr/>
            <p:nvPr/>
          </p:nvSpPr>
          <p:spPr>
            <a:xfrm>
              <a:off x="3194461" y="2764222"/>
              <a:ext cx="1056904" cy="3042809"/>
            </a:xfrm>
            <a:custGeom>
              <a:avLst/>
              <a:gdLst>
                <a:gd name="csX0" fmla="*/ 1056904 w 1056904"/>
                <a:gd name="csY0" fmla="*/ 0 h 3042809"/>
                <a:gd name="csX1" fmla="*/ 1056904 w 1056904"/>
                <a:gd name="csY1" fmla="*/ 1985907 h 3042809"/>
                <a:gd name="csX2" fmla="*/ 2 w 1056904"/>
                <a:gd name="csY2" fmla="*/ 3042809 h 3042809"/>
                <a:gd name="csX3" fmla="*/ 0 w 1056904"/>
                <a:gd name="csY3" fmla="*/ 3042809 h 3042809"/>
                <a:gd name="csX4" fmla="*/ 1056904 w 1056904"/>
                <a:gd name="csY4" fmla="*/ 0 h 30428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56904" h="3042809">
                  <a:moveTo>
                    <a:pt x="1056904" y="0"/>
                  </a:moveTo>
                  <a:lnTo>
                    <a:pt x="1056904" y="1985907"/>
                  </a:lnTo>
                  <a:lnTo>
                    <a:pt x="2" y="3042809"/>
                  </a:lnTo>
                  <a:lnTo>
                    <a:pt x="0" y="3042809"/>
                  </a:lnTo>
                  <a:lnTo>
                    <a:pt x="1056904" y="0"/>
                  </a:lnTo>
                  <a:close/>
                </a:path>
              </a:pathLst>
            </a:custGeom>
            <a:solidFill>
              <a:srgbClr val="EDE4FF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FR"/>
            </a:p>
          </p:txBody>
        </p:sp>
      </p:grpSp>
      <p:sp>
        <p:nvSpPr>
          <p:cNvPr id="2" name="Google Shape;126;p20">
            <a:extLst>
              <a:ext uri="{FF2B5EF4-FFF2-40B4-BE49-F238E27FC236}">
                <a16:creationId xmlns:a16="http://schemas.microsoft.com/office/drawing/2014/main" id="{B45681FA-A1B1-6C13-325F-C1816B7EBB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448" y="124722"/>
            <a:ext cx="115494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2800" b="1" dirty="0">
                <a:latin typeface="Montserrat"/>
                <a:ea typeface="Montserrat"/>
                <a:cs typeface="Montserrat"/>
                <a:sym typeface="Montserrat"/>
              </a:rPr>
              <a:t>Contraintes et spécificités </a:t>
            </a:r>
            <a:r>
              <a:rPr lang="fr-FR" sz="3600" b="1" dirty="0">
                <a:solidFill>
                  <a:srgbClr val="6528F7"/>
                </a:solidFill>
                <a:latin typeface="Bradley Hand" pitchFamily="2" charset="77"/>
                <a:ea typeface="Montserrat"/>
                <a:cs typeface="Montserrat"/>
                <a:sym typeface="Montserrat"/>
              </a:rPr>
              <a:t>techniques et réglementaires</a:t>
            </a:r>
            <a:endParaRPr sz="3600" b="1" dirty="0">
              <a:solidFill>
                <a:srgbClr val="6528F7"/>
              </a:solidFill>
              <a:latin typeface="Bradley Hand" pitchFamily="2" charset="77"/>
              <a:ea typeface="Montserrat"/>
              <a:cs typeface="Montserrat"/>
              <a:sym typeface="Montserra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D998CB-B7EA-F9B7-04B2-7055C6DFD872}"/>
              </a:ext>
            </a:extLst>
          </p:cNvPr>
          <p:cNvGrpSpPr/>
          <p:nvPr/>
        </p:nvGrpSpPr>
        <p:grpSpPr>
          <a:xfrm>
            <a:off x="1862004" y="-3073254"/>
            <a:ext cx="7250877" cy="5861130"/>
            <a:chOff x="1862004" y="-3126009"/>
            <a:chExt cx="7250877" cy="5861130"/>
          </a:xfrm>
        </p:grpSpPr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5EA4BE82-1115-D43C-DD6D-CE1AAA13A1DD}"/>
                </a:ext>
              </a:extLst>
            </p:cNvPr>
            <p:cNvSpPr/>
            <p:nvPr/>
          </p:nvSpPr>
          <p:spPr>
            <a:xfrm rot="7284966">
              <a:off x="2556878" y="-3820883"/>
              <a:ext cx="5861130" cy="7250877"/>
            </a:xfrm>
            <a:prstGeom prst="arc">
              <a:avLst>
                <a:gd name="adj1" fmla="val 16800036"/>
                <a:gd name="adj2" fmla="val 89506"/>
              </a:avLst>
            </a:prstGeom>
            <a:ln w="19050">
              <a:solidFill>
                <a:srgbClr val="6528F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4" name="Extract 13">
              <a:extLst>
                <a:ext uri="{FF2B5EF4-FFF2-40B4-BE49-F238E27FC236}">
                  <a16:creationId xmlns:a16="http://schemas.microsoft.com/office/drawing/2014/main" id="{3AB808F0-FBC3-A496-B58B-D45660909BAD}"/>
                </a:ext>
              </a:extLst>
            </p:cNvPr>
            <p:cNvSpPr/>
            <p:nvPr/>
          </p:nvSpPr>
          <p:spPr>
            <a:xfrm rot="2779327">
              <a:off x="8079679" y="1957520"/>
              <a:ext cx="354702" cy="307030"/>
            </a:xfrm>
            <a:prstGeom prst="flowChartExtract">
              <a:avLst/>
            </a:prstGeom>
            <a:solidFill>
              <a:srgbClr val="652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B5C7D40-A33B-F2C4-7765-809DD07FA1E9}"/>
              </a:ext>
            </a:extLst>
          </p:cNvPr>
          <p:cNvSpPr txBox="1"/>
          <p:nvPr/>
        </p:nvSpPr>
        <p:spPr>
          <a:xfrm>
            <a:off x="495448" y="4498234"/>
            <a:ext cx="28365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dirty="0"/>
              <a:t>Utilisation de HTML, CSS et éventuellement JavaScript.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ACCC99-4A82-DD72-EC30-05AE314EF793}"/>
              </a:ext>
            </a:extLst>
          </p:cNvPr>
          <p:cNvSpPr txBox="1"/>
          <p:nvPr/>
        </p:nvSpPr>
        <p:spPr>
          <a:xfrm>
            <a:off x="3584201" y="5644087"/>
            <a:ext cx="21159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dirty="0"/>
              <a:t>Site responsive compatible ordinateur, tablette et mobile.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D44836-7000-1EBE-F804-5C9E8E0DA9A3}"/>
              </a:ext>
            </a:extLst>
          </p:cNvPr>
          <p:cNvSpPr txBox="1"/>
          <p:nvPr/>
        </p:nvSpPr>
        <p:spPr>
          <a:xfrm>
            <a:off x="6491818" y="5644087"/>
            <a:ext cx="26445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dirty="0"/>
              <a:t>Compatibilité avec les navigateurs récents : Chrome, Edge, Firefox et Safari.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6D9DEC-4522-49C7-944E-7DD8368908BF}"/>
              </a:ext>
            </a:extLst>
          </p:cNvPr>
          <p:cNvSpPr txBox="1"/>
          <p:nvPr/>
        </p:nvSpPr>
        <p:spPr>
          <a:xfrm>
            <a:off x="8888963" y="4327538"/>
            <a:ext cx="30509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dirty="0"/>
              <a:t>Organisation claire des fichiers dans un dépôt GitHub. Sauvegarde du code source sur GitHub.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F46B40-F751-2224-B077-B544A0A36B03}"/>
              </a:ext>
            </a:extLst>
          </p:cNvPr>
          <p:cNvSpPr txBox="1"/>
          <p:nvPr/>
        </p:nvSpPr>
        <p:spPr>
          <a:xfrm>
            <a:off x="5034423" y="2146972"/>
            <a:ext cx="2339387" cy="306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dirty="0">
                <a:latin typeface="Montserrat" pitchFamily="2" charset="77"/>
              </a:rPr>
              <a:t>Contraintes techniques 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FD62F279-AE6B-3F05-A0BE-320A3324B4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8193" y="1873001"/>
            <a:ext cx="228600" cy="2286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305C43E9-55A4-DC73-A04E-D36EECA456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1021" y="4122118"/>
            <a:ext cx="328726" cy="328726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E95067C7-0702-7CC2-176A-0AE0855910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51458" y="5312878"/>
            <a:ext cx="324000" cy="3240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931B0DC9-207B-599F-F4CB-76AC343495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6515" y="5309862"/>
            <a:ext cx="324000" cy="32400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933785FE-D9A9-1C05-8008-3CE71125EE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15947" y="3955608"/>
            <a:ext cx="324000" cy="324000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2D6A76BD-3A93-621E-8BB0-DA0EF0CB4311}"/>
              </a:ext>
            </a:extLst>
          </p:cNvPr>
          <p:cNvSpPr txBox="1"/>
          <p:nvPr/>
        </p:nvSpPr>
        <p:spPr>
          <a:xfrm>
            <a:off x="4315380" y="1337533"/>
            <a:ext cx="6099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dirty="0"/>
              <a:t>Le portfolio sera hébergé sur GitHub Pages.</a:t>
            </a:r>
          </a:p>
        </p:txBody>
      </p:sp>
    </p:spTree>
    <p:extLst>
      <p:ext uri="{BB962C8B-B14F-4D97-AF65-F5344CB8AC3E}">
        <p14:creationId xmlns:p14="http://schemas.microsoft.com/office/powerpoint/2010/main" val="2716491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BEFA26EA-B361-AE3F-00FD-DD47EFA3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B208D7-65F6-0B10-252C-10A557AD3B9A}"/>
              </a:ext>
            </a:extLst>
          </p:cNvPr>
          <p:cNvSpPr txBox="1"/>
          <p:nvPr/>
        </p:nvSpPr>
        <p:spPr>
          <a:xfrm>
            <a:off x="2226564" y="2545093"/>
            <a:ext cx="8435340" cy="3082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Respect du RGPD.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Ne pas publier de données personnelles sensibles.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Ne pas publier de données confidentielles ou réelles d’entreprise.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Utiliser uniquement des données fictives ou anonymisées pour les démonstrations.</a:t>
            </a:r>
          </a:p>
        </p:txBody>
      </p:sp>
      <p:sp>
        <p:nvSpPr>
          <p:cNvPr id="4" name="Google Shape;126;p20">
            <a:extLst>
              <a:ext uri="{FF2B5EF4-FFF2-40B4-BE49-F238E27FC236}">
                <a16:creationId xmlns:a16="http://schemas.microsoft.com/office/drawing/2014/main" id="{F9D8FF63-640F-4651-1604-AE348760E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448" y="124722"/>
            <a:ext cx="115494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2800" b="1" dirty="0">
                <a:latin typeface="Montserrat"/>
                <a:ea typeface="Montserrat"/>
                <a:cs typeface="Montserrat"/>
                <a:sym typeface="Montserrat"/>
              </a:rPr>
              <a:t>Contraintes et spécificités </a:t>
            </a:r>
            <a:r>
              <a:rPr lang="fr-FR" sz="3600" b="1" dirty="0">
                <a:solidFill>
                  <a:srgbClr val="6528F7"/>
                </a:solidFill>
                <a:latin typeface="Bradley Hand" pitchFamily="2" charset="77"/>
                <a:ea typeface="Montserrat"/>
                <a:cs typeface="Montserrat"/>
                <a:sym typeface="Montserrat"/>
              </a:rPr>
              <a:t>techniques et réglementaires</a:t>
            </a:r>
            <a:endParaRPr sz="3600" b="1" dirty="0">
              <a:solidFill>
                <a:srgbClr val="6528F7"/>
              </a:solidFill>
              <a:latin typeface="Bradley Hand" pitchFamily="2" charset="77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89C82E-89C8-1DFA-80D9-95E15E9BB4E8}"/>
              </a:ext>
            </a:extLst>
          </p:cNvPr>
          <p:cNvSpPr txBox="1"/>
          <p:nvPr/>
        </p:nvSpPr>
        <p:spPr>
          <a:xfrm>
            <a:off x="2830068" y="1727585"/>
            <a:ext cx="6099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2400" dirty="0">
                <a:latin typeface="Montserrat" pitchFamily="2" charset="77"/>
              </a:rPr>
              <a:t>Contraintes</a:t>
            </a:r>
            <a:r>
              <a:rPr lang="en-FR" sz="1800" dirty="0"/>
              <a:t> </a:t>
            </a:r>
            <a:r>
              <a:rPr lang="en-FR" sz="2400" dirty="0">
                <a:latin typeface="Montserrat" pitchFamily="2" charset="77"/>
              </a:rPr>
              <a:t>réglementaires</a:t>
            </a:r>
            <a:r>
              <a:rPr lang="en-F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2402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838200" y="2296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 dirty="0">
                <a:latin typeface="Montserrat"/>
                <a:ea typeface="Montserrat"/>
                <a:cs typeface="Montserrat"/>
                <a:sym typeface="Montserrat"/>
              </a:rPr>
              <a:t>Qualité </a:t>
            </a:r>
            <a:r>
              <a:rPr lang="fr-FR" sz="4000" b="1" dirty="0">
                <a:solidFill>
                  <a:srgbClr val="6528F7"/>
                </a:solidFill>
                <a:latin typeface="Bradley Hand" pitchFamily="2" charset="77"/>
                <a:ea typeface="Montserrat"/>
                <a:cs typeface="Montserrat"/>
                <a:sym typeface="Montserrat"/>
              </a:rPr>
              <a:t>et</a:t>
            </a:r>
            <a:r>
              <a:rPr lang="fr-FR" sz="4000" b="1" dirty="0">
                <a:latin typeface="Montserrat"/>
                <a:ea typeface="Montserrat"/>
                <a:cs typeface="Montserrat"/>
                <a:sym typeface="Montserrat"/>
              </a:rPr>
              <a:t> performance (1)</a:t>
            </a:r>
            <a:endParaRPr sz="40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04CF5-8238-142F-67B7-C3B8A422BCAE}"/>
              </a:ext>
            </a:extLst>
          </p:cNvPr>
          <p:cNvSpPr txBox="1"/>
          <p:nvPr/>
        </p:nvSpPr>
        <p:spPr>
          <a:xfrm>
            <a:off x="2862764" y="1993205"/>
            <a:ext cx="6098058" cy="358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Critères qualité 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Portfolio clair et facile à consulter.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Livrables accessibles.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Présentation professionnelle.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Contenu cohérent avec le cahier des charges Aéroworld.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Bonne lisibilité des textes et des visuels.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B68CA842-CF1A-2FA2-BBFA-DD8F102C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>
            <a:extLst>
              <a:ext uri="{FF2B5EF4-FFF2-40B4-BE49-F238E27FC236}">
                <a16:creationId xmlns:a16="http://schemas.microsoft.com/office/drawing/2014/main" id="{6FDAAC04-8A77-37C4-A4BD-7322652790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Qualité </a:t>
            </a:r>
            <a:r>
              <a:rPr lang="fr-FR" b="1" dirty="0">
                <a:solidFill>
                  <a:srgbClr val="6528F7"/>
                </a:solidFill>
                <a:latin typeface="Bradley Hand" pitchFamily="2" charset="77"/>
                <a:ea typeface="Montserrat"/>
                <a:cs typeface="Montserrat"/>
                <a:sym typeface="Montserrat"/>
              </a:rPr>
              <a:t>et</a:t>
            </a: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 performance (2)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E3B7B-B765-448A-F32D-BF775163D427}"/>
              </a:ext>
            </a:extLst>
          </p:cNvPr>
          <p:cNvSpPr txBox="1"/>
          <p:nvPr/>
        </p:nvSpPr>
        <p:spPr>
          <a:xfrm>
            <a:off x="2820161" y="1690688"/>
            <a:ext cx="7559971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FR" dirty="0">
              <a:latin typeface="Montserrat" pitchFamily="2" charset="77"/>
            </a:endParaRPr>
          </a:p>
          <a:p>
            <a:pPr>
              <a:lnSpc>
                <a:spcPct val="150000"/>
              </a:lnSpc>
            </a:pPr>
            <a:r>
              <a:rPr lang="en-FR" sz="2200" dirty="0">
                <a:latin typeface="Montserrat" pitchFamily="2" charset="77"/>
              </a:rPr>
              <a:t>KPI de suivi 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Respect des délais du planning.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Nombre de livrables finalisés.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Nombre de sections complétées dans le portfolio.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Qualité de navigation sur ordinateur et mobile.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FR" sz="2200" dirty="0">
                <a:latin typeface="Montserrat" pitchFamily="2" charset="77"/>
              </a:rPr>
              <a:t>Validation des livrables par le mentor ou l’évaluateur.</a:t>
            </a:r>
          </a:p>
        </p:txBody>
      </p:sp>
    </p:spTree>
    <p:extLst>
      <p:ext uri="{BB962C8B-B14F-4D97-AF65-F5344CB8AC3E}">
        <p14:creationId xmlns:p14="http://schemas.microsoft.com/office/powerpoint/2010/main" val="1732332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838200" y="941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5A02E-4AB6-7A76-EC1D-95EB51A94A73}"/>
              </a:ext>
            </a:extLst>
          </p:cNvPr>
          <p:cNvSpPr txBox="1"/>
          <p:nvPr/>
        </p:nvSpPr>
        <p:spPr>
          <a:xfrm>
            <a:off x="2946401" y="1340428"/>
            <a:ext cx="6705600" cy="511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FR" sz="2000" dirty="0">
                <a:latin typeface="Montserrat" pitchFamily="2" charset="77"/>
              </a:rPr>
              <a:t>Analyse du cahier des charges Aéroworld.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FR" sz="2000" dirty="0">
                <a:latin typeface="Montserrat" pitchFamily="2" charset="77"/>
              </a:rPr>
              <a:t>Création de la carte mentale.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FR" sz="2000" dirty="0">
                <a:latin typeface="Montserrat" pitchFamily="2" charset="77"/>
              </a:rPr>
              <a:t>Rédaction de l’analyse des besoins métiers.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FR" sz="2000" dirty="0">
                <a:latin typeface="Montserrat" pitchFamily="2" charset="77"/>
              </a:rPr>
              <a:t> Rédaction du cahier des charges fonctionnel du portfolio.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FR" sz="2000" dirty="0">
                <a:latin typeface="Montserrat" pitchFamily="2" charset="77"/>
              </a:rPr>
              <a:t>Création du diagramme de Gantt.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FR" sz="2000" dirty="0">
                <a:latin typeface="Montserrat" pitchFamily="2" charset="77"/>
              </a:rPr>
              <a:t>Conception des mock-ups.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FR" sz="2000" dirty="0">
                <a:latin typeface="Montserrat" pitchFamily="2" charset="77"/>
              </a:rPr>
              <a:t>Création des tableaux de bord Power BI.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FR" sz="2000" dirty="0">
                <a:latin typeface="Montserrat" pitchFamily="2" charset="77"/>
              </a:rPr>
              <a:t> Rédaction de la documentation utilisateur.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FR" sz="2000" dirty="0">
                <a:latin typeface="Montserrat" pitchFamily="2" charset="77"/>
              </a:rPr>
              <a:t>Réalisation de la vidéo de formation.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FR" sz="2000" dirty="0">
                <a:latin typeface="Montserrat" pitchFamily="2" charset="77"/>
              </a:rPr>
              <a:t>Création du portfolio GitHub Pages.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838200" y="1449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4CD95-7A38-5CB9-3CD1-AE341EDDF7EF}"/>
              </a:ext>
            </a:extLst>
          </p:cNvPr>
          <p:cNvSpPr txBox="1"/>
          <p:nvPr/>
        </p:nvSpPr>
        <p:spPr>
          <a:xfrm>
            <a:off x="3048000" y="1183329"/>
            <a:ext cx="6096000" cy="460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200" dirty="0">
                <a:latin typeface="Montserrat" pitchFamily="2" charset="77"/>
              </a:rPr>
              <a:t>Catégories de coûts :-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FR" sz="2200" dirty="0">
                <a:latin typeface="Montserrat" pitchFamily="2" charset="77"/>
              </a:rPr>
              <a:t>Temps d’analyse et de cadrage.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FR" sz="2200" dirty="0">
                <a:latin typeface="Montserrat" pitchFamily="2" charset="77"/>
              </a:rPr>
              <a:t>Conception du portfolio.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FR" sz="2200" dirty="0">
                <a:latin typeface="Montserrat" pitchFamily="2" charset="77"/>
              </a:rPr>
              <a:t>Création des tableaux de bord.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FR" sz="2200" dirty="0">
                <a:latin typeface="Montserrat" pitchFamily="2" charset="77"/>
              </a:rPr>
              <a:t>Rédaction de la documentation.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FR" sz="2200" dirty="0">
                <a:latin typeface="Montserrat" pitchFamily="2" charset="77"/>
              </a:rPr>
              <a:t>Réalisation de la vidéo de formation.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FR" sz="2200" dirty="0">
                <a:latin typeface="Montserrat" pitchFamily="2" charset="77"/>
              </a:rPr>
              <a:t>Hébergement GitHub Pages : gratuit.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FR" sz="2200" dirty="0">
                <a:latin typeface="Montserrat" pitchFamily="2" charset="77"/>
              </a:rPr>
              <a:t>Outils utilisés : Power BI Desktop, GitHub, éditeur de code.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86845-7116-BB62-4F2E-174F71970E34}"/>
              </a:ext>
            </a:extLst>
          </p:cNvPr>
          <p:cNvSpPr txBox="1"/>
          <p:nvPr/>
        </p:nvSpPr>
        <p:spPr>
          <a:xfrm>
            <a:off x="3081866" y="5788885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200" dirty="0">
                <a:latin typeface="Montserrat" pitchFamily="2" charset="77"/>
              </a:rPr>
              <a:t>Coût estimatif total 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9200</TotalTime>
  <Words>727</Words>
  <Application>Microsoft Macintosh PowerPoint</Application>
  <PresentationFormat>Widescreen</PresentationFormat>
  <Paragraphs>114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Bradley Hand</vt:lpstr>
      <vt:lpstr>Wingdings</vt:lpstr>
      <vt:lpstr>Arial</vt:lpstr>
      <vt:lpstr>Calibri</vt:lpstr>
      <vt:lpstr>Corben</vt:lpstr>
      <vt:lpstr>Montserrat</vt:lpstr>
      <vt:lpstr>Thème Office</vt:lpstr>
      <vt:lpstr>Cahier des charges</vt:lpstr>
      <vt:lpstr>Sommaire</vt:lpstr>
      <vt:lpstr>Présentation du projet</vt:lpstr>
      <vt:lpstr>Enjeux et objectifs</vt:lpstr>
      <vt:lpstr>Équipe projet</vt:lpstr>
      <vt:lpstr>Spécifications ergonomiques</vt:lpstr>
      <vt:lpstr>Spécifications fonctionnelles</vt:lpstr>
      <vt:lpstr>Spécifications fonctionnelles</vt:lpstr>
      <vt:lpstr>Contraintes et spécificités techniques et réglementaires</vt:lpstr>
      <vt:lpstr>Contraintes et spécificités techniques et réglementaires</vt:lpstr>
      <vt:lpstr>Qualité et performance (1)</vt:lpstr>
      <vt:lpstr>Qualité et performance (2)</vt:lpstr>
      <vt:lpstr>Rétroplanning</vt:lpstr>
      <vt:lpstr>Devis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Mohammed ABBAKAR</cp:lastModifiedBy>
  <cp:revision>20</cp:revision>
  <dcterms:modified xsi:type="dcterms:W3CDTF">2026-05-05T10:27:09Z</dcterms:modified>
</cp:coreProperties>
</file>